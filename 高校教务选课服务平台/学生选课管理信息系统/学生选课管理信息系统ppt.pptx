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>
        <p:scale>
          <a:sx n="60" d="100"/>
          <a:sy n="60" d="100"/>
        </p:scale>
        <p:origin x="1188" y="876"/>
      </p:cViewPr>
      <p:guideLst>
        <p:guide pos="416"/>
        <p:guide pos="7256"/>
        <p:guide orient="horz" pos="648"/>
        <p:guide orient="horz" pos="712"/>
        <p:guide orient="horz" pos="3928"/>
        <p:guide orient="horz" pos="38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C97D1-8DA0-4CEB-9280-9C8B2810AE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70B78F-3C56-4CF0-8CBA-8E6BD5F1F09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7afd44db-20a1-4073-a565-50d59d85b2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2" name="标题 1" descr="b21fc73b-fc04-4c6e-9cdd-8e2584c2ec58"/>
          <p:cNvSpPr>
            <a:spLocks noGrp="1"/>
          </p:cNvSpPr>
          <p:nvPr>
            <p:ph type="ctrTitle" hasCustomPrompt="1"/>
          </p:nvPr>
        </p:nvSpPr>
        <p:spPr>
          <a:xfrm>
            <a:off x="660400" y="1130300"/>
            <a:ext cx="10858500" cy="205105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副标题 2" descr="3bc842a0-b346-4296-ac27-b9737f2d65c3"/>
          <p:cNvSpPr>
            <a:spLocks noGrp="1"/>
          </p:cNvSpPr>
          <p:nvPr>
            <p:ph type="subTitle" idx="1" hasCustomPrompt="1"/>
          </p:nvPr>
        </p:nvSpPr>
        <p:spPr>
          <a:xfrm>
            <a:off x="660400" y="3181350"/>
            <a:ext cx="10858500" cy="199486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文本占位符 3" descr="27163176-9591-4206-a17b-41b102fc017d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6641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 descr="fea8fb5d-f785-4e27-92af-25b4353dbb5c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4073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544222bc-c1f2-40fb-bfa9-d14e48e10be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内容占位符 2" descr="26f956e3-a686-425c-b764-fab3ad43887d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 descr="9145eea7-fa32-46b1-85a9-36715d4aa22f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dc247493-dee1-4552-8d1b-02d5712ad55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f7dfbe92-3a0b-486f-b624-b1eb38a2d9ad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b1a1ae0-2cd8-4791-9eac-98d896e2973a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3" name="内容占位符 2" descr="df19c176-ad05-4519-99f6-dc9ece779fe6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 descr="38b07218-d2a6-4dc8-a995-3f7e8cb6193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85eb6024-82e9-4f0a-8e0b-85049906ba3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2ad78df5-d00c-4532-ae3b-5f23d34d29c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  <p:cxnSp>
        <p:nvCxnSpPr>
          <p:cNvPr id="7" name="直接连接符 6" descr="be73f9d3-b976-40ee-a7b8-b32dbbb6fe08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 descr="15e3868c-e4b5-49da-b9e7-74e5fcfb8410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afc81128-1088-48bc-bd2f-0901e3ddab1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2" name="标题 1" descr="84ba0520-b3a6-4c53-82c4-5f3fcfccff06"/>
          <p:cNvSpPr>
            <a:spLocks noGrp="1"/>
          </p:cNvSpPr>
          <p:nvPr>
            <p:ph type="title" hasCustomPrompt="1"/>
          </p:nvPr>
        </p:nvSpPr>
        <p:spPr>
          <a:xfrm>
            <a:off x="660400" y="1144693"/>
            <a:ext cx="10858500" cy="126195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 descr="80b90c15-9122-40e0-9afe-3acbf0504dba"/>
          <p:cNvSpPr>
            <a:spLocks noGrp="1"/>
          </p:cNvSpPr>
          <p:nvPr>
            <p:ph type="body" idx="1" hasCustomPrompt="1"/>
          </p:nvPr>
        </p:nvSpPr>
        <p:spPr>
          <a:xfrm>
            <a:off x="660400" y="2406650"/>
            <a:ext cx="10858500" cy="372745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日期占位符 3" descr="965f1d9b-0e1b-4fb7-a40e-a9105d06ac2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7ce0d7e7-444c-4a97-8440-670ed02414d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0d92f300-df12-43eb-82e9-65a42a290c8f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 descr="990afd8a-707c-4bd9-9adc-cf90f9e8587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5be11832-fc7a-4b8f-aed6-a2a24693c2d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 descr="78a3d634-fef5-407d-9036-5cb8dd04448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527846fb-9900-4b69-8938-2d54fb1fd55f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94318751-9e06-4d51-a3b0-ffeba846d53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7390a731-6b91-48cc-926c-7e88c0c739f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f576faa4-919c-488b-a724-2ed48920929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2" name="标题 1" descr="15dd357b-c684-4b6a-b30b-f358a57a4140"/>
          <p:cNvSpPr>
            <a:spLocks noGrp="1"/>
          </p:cNvSpPr>
          <p:nvPr>
            <p:ph type="title" hasCustomPrompt="1"/>
          </p:nvPr>
        </p:nvSpPr>
        <p:spPr>
          <a:xfrm>
            <a:off x="660400" y="2423160"/>
            <a:ext cx="10858500" cy="137160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文本占位符 3" descr="8b3bdb0e-8e22-4763-8bef-55eaaa2e91fc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88112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 descr="4bc3dedf-41dd-4c0c-b75b-f83aa969628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415544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21fc73b-fc04-4c6e-9cdd-8e2584c2ec58"/>
          <p:cNvSpPr>
            <a:spLocks noGrp="1"/>
          </p:cNvSpPr>
          <p:nvPr>
            <p:ph type="ctr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>
                <a:solidFill>
                  <a:srgbClr val="000000"/>
                </a:solidFill>
                <a:ea typeface="微软雅黑" panose="020B0503020204020204" charset="-122"/>
              </a:rPr>
              <a:t>学生选课管理信息系统</a:t>
            </a:r>
            <a:endParaRPr lang="en-US" sz="4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副标题 2" descr="3bc842a0-b346-4296-ac27-b9737f2d65c3"/>
          <p:cNvSpPr>
            <a:spLocks noGrp="1"/>
          </p:cNvSpPr>
          <p:nvPr>
            <p:ph type="subTitle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2400" b="0" i="0" u="none">
                <a:solidFill>
                  <a:srgbClr val="000000"/>
                </a:solidFill>
                <a:ea typeface="微软雅黑" panose="020B0503020204020204" charset="-122"/>
              </a:rPr>
              <a:t>基于多角色协同的智能化管理平台设计与实现</a:t>
            </a:r>
            <a:endParaRPr lang="en-US" sz="24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5" name="文本占位符 4" descr="fea8fb5d-f785-4e27-92af-25b4353dbb5c"/>
          <p:cNvSpPr>
            <a:spLocks noGrp="1"/>
          </p:cNvSpPr>
          <p:nvPr>
            <p:ph type="body" sz="quarter" idx="14" hasCustomPrompt="1"/>
          </p:nvPr>
        </p:nvSpPr>
        <p:spPr>
          <a:xfrm>
            <a:off x="508000" y="5176520"/>
            <a:ext cx="10858500" cy="274320"/>
          </a:xfrm>
        </p:spPr>
        <p:txBody>
          <a:bodyPr anchorCtr="0">
            <a:no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zh-CN" altLang="en-US" sz="4400">
                <a:latin typeface="微软雅黑" panose="020B0503020204020204" charset="-122"/>
              </a:rPr>
              <a:t>指导老师：李泓</a:t>
            </a:r>
            <a:r>
              <a:rPr lang="zh-CN" altLang="en-US" sz="4400">
                <a:latin typeface="微软雅黑" panose="020B0503020204020204" charset="-122"/>
              </a:rPr>
              <a:t>波</a:t>
            </a:r>
            <a:endParaRPr lang="zh-CN" altLang="en-US" sz="4400">
              <a:latin typeface="微软雅黑" panose="020B0503020204020204" charset="-122"/>
            </a:endParaRPr>
          </a:p>
        </p:txBody>
      </p:sp>
      <p:sp>
        <p:nvSpPr>
          <p:cNvPr id="7" name="文本占位符 4" descr="fea8fb5d-f785-4e27-92af-25b4353dbb5c"/>
          <p:cNvSpPr>
            <a:spLocks noGrp="1"/>
          </p:cNvSpPr>
          <p:nvPr/>
        </p:nvSpPr>
        <p:spPr>
          <a:xfrm>
            <a:off x="787400" y="4382770"/>
            <a:ext cx="10858500" cy="2743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zh-CN" altLang="en-US" sz="4400">
                <a:latin typeface="微软雅黑" panose="020B0503020204020204" charset="-122"/>
              </a:rPr>
              <a:t>张文静</a:t>
            </a:r>
            <a:r>
              <a:rPr lang="en-US" altLang="zh-CN" sz="4400">
                <a:latin typeface="微软雅黑" panose="020B0503020204020204" charset="-122"/>
              </a:rPr>
              <a:t> 202324115118</a:t>
            </a:r>
            <a:endParaRPr lang="en-US" altLang="zh-CN" sz="4400">
              <a:latin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4caed9d6-c0d5-402d-a13c-963d60d56e8c.source.6.zh-Hans.pptx" descr="3c0fbf4c-551c-467d-b318-580a8db238c4"/>
          <p:cNvGrpSpPr/>
          <p:nvPr/>
        </p:nvGrpSpPr>
        <p:grpSpPr>
          <a:xfrm>
            <a:off x="0" y="1130300"/>
            <a:ext cx="12192000" cy="4305311"/>
            <a:chOff x="0" y="1130300"/>
            <a:chExt cx="12192000" cy="4305311"/>
          </a:xfrm>
        </p:grpSpPr>
        <p:sp>
          <p:nvSpPr>
            <p:cNvPr id="2" name="矩形 1" descr="64015635-7d89-4f5f-b26a-71ebb6dd24fd"/>
            <p:cNvSpPr>
              <a:spLocks noChangeAspect="1"/>
            </p:cNvSpPr>
            <p:nvPr/>
          </p:nvSpPr>
          <p:spPr>
            <a:xfrm>
              <a:off x="0" y="3406786"/>
              <a:ext cx="12192000" cy="1076060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l"/>
            </a:p>
          </p:txBody>
        </p:sp>
        <p:cxnSp>
          <p:nvCxnSpPr>
            <p:cNvPr id="83" name="直接箭头连接符 82" descr="5fd19ff9-7d92-4558-aede-d2de8fa2a740"/>
            <p:cNvCxnSpPr/>
            <p:nvPr/>
          </p:nvCxnSpPr>
          <p:spPr>
            <a:xfrm>
              <a:off x="660400" y="3944816"/>
              <a:ext cx="10858500" cy="0"/>
            </a:xfrm>
            <a:prstGeom prst="straightConnector1">
              <a:avLst/>
            </a:prstGeom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组合 2" descr="b7b4a7cd-9ce9-4f30-88b1-205d1db60a87"/>
            <p:cNvGrpSpPr/>
            <p:nvPr/>
          </p:nvGrpSpPr>
          <p:grpSpPr>
            <a:xfrm>
              <a:off x="666750" y="3650127"/>
              <a:ext cx="2108228" cy="1785484"/>
              <a:chOff x="666750" y="3650127"/>
              <a:chExt cx="2108228" cy="1785484"/>
            </a:xfrm>
          </p:grpSpPr>
          <p:sp>
            <p:nvSpPr>
              <p:cNvPr id="50" name="Number1" descr="5258aaef-626b-4cae-b2eb-2fa2468cabf3"/>
              <p:cNvSpPr/>
              <p:nvPr/>
            </p:nvSpPr>
            <p:spPr>
              <a:xfrm>
                <a:off x="1411803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56" name="组合 55" descr="ff84165b-eb97-47de-b0ae-56fb60386ba9"/>
              <p:cNvGrpSpPr/>
              <p:nvPr/>
            </p:nvGrpSpPr>
            <p:grpSpPr>
              <a:xfrm>
                <a:off x="666750" y="4236631"/>
                <a:ext cx="2108228" cy="1198980"/>
                <a:chOff x="1906502" y="4601292"/>
                <a:chExt cx="2108228" cy="1198980"/>
              </a:xfrm>
            </p:grpSpPr>
            <p:sp>
              <p:nvSpPr>
                <p:cNvPr id="79" name="Bullet1" descr="828f1d9d-c6a7-4e62-a925-ab88789805eb"/>
                <p:cNvSpPr txBox="1"/>
                <p:nvPr/>
              </p:nvSpPr>
              <p:spPr>
                <a:xfrm>
                  <a:off x="1906502" y="5090848"/>
                  <a:ext cx="2108228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项目缘起与目标</a:t>
                  </a:r>
                  <a:endParaRPr lang="en-US" sz="1800" b="1" i="0" u="none" strike="noStrik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cxnSp>
              <p:nvCxnSpPr>
                <p:cNvPr id="81" name="直接连接符 80" descr="8eb73fe2-0dfc-456f-a6b7-4cd60604ad09"/>
                <p:cNvCxnSpPr/>
                <p:nvPr/>
              </p:nvCxn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" name="组合 3" descr="8d6e3071-a8c6-4944-8441-0ef9f0b56fd2"/>
            <p:cNvGrpSpPr/>
            <p:nvPr/>
          </p:nvGrpSpPr>
          <p:grpSpPr>
            <a:xfrm>
              <a:off x="2327623" y="2441361"/>
              <a:ext cx="2108228" cy="1795270"/>
              <a:chOff x="2327623" y="2441361"/>
              <a:chExt cx="2108228" cy="1795270"/>
            </a:xfrm>
          </p:grpSpPr>
          <p:sp>
            <p:nvSpPr>
              <p:cNvPr id="51" name="Number2" descr="5252303d-ebe7-46de-9867-e80854accd3c"/>
              <p:cNvSpPr/>
              <p:nvPr/>
            </p:nvSpPr>
            <p:spPr>
              <a:xfrm>
                <a:off x="3088485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/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20204"/>
                  </a:rPr>
                  <a:t>02</a:t>
                </a:r>
                <a:endParaRPr lang="en-US" sz="2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65" name="组合 64" descr="ce968289-9594-49d6-bbd5-fa746dbd1eac"/>
              <p:cNvGrpSpPr/>
              <p:nvPr/>
            </p:nvGrpSpPr>
            <p:grpSpPr>
              <a:xfrm>
                <a:off x="2327623" y="2441361"/>
                <a:ext cx="2108228" cy="1205891"/>
                <a:chOff x="1900152" y="5316110"/>
                <a:chExt cx="2108228" cy="1205891"/>
              </a:xfrm>
            </p:grpSpPr>
            <p:sp>
              <p:nvSpPr>
                <p:cNvPr id="70" name="Bullet2" descr="d31189ab-967e-43a2-ac07-d1d8984a2a66"/>
                <p:cNvSpPr txBox="1"/>
                <p:nvPr/>
              </p:nvSpPr>
              <p:spPr>
                <a:xfrm>
                  <a:off x="1900152" y="5316110"/>
                  <a:ext cx="2108228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系统纵览与架构</a:t>
                  </a:r>
                  <a:endParaRPr lang="en-US" sz="1800" b="1" i="0" u="none" strike="noStrik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cxnSp>
              <p:nvCxnSpPr>
                <p:cNvPr id="72" name="直接连接符 71" descr="533763b4-7286-4ee1-9132-868d64fa395c"/>
                <p:cNvCxnSpPr/>
                <p:nvPr/>
              </p:nvCxn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4" name="Title" descr="393a71e6-f234-4068-aa93-d626d59117c0"/>
            <p:cNvSpPr>
              <a:spLocks noChangeAspect="1"/>
            </p:cNvSpPr>
            <p:nvPr/>
          </p:nvSpPr>
          <p:spPr>
            <a:xfrm>
              <a:off x="666750" y="1130300"/>
              <a:ext cx="10858500" cy="10029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endParaRPr lang="en-US" sz="4800" b="1" i="0" u="none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grpSp>
          <p:nvGrpSpPr>
            <p:cNvPr id="5" name="组合 4" descr="3d7d760a-0294-45c3-a383-2b2d508a22f3"/>
            <p:cNvGrpSpPr/>
            <p:nvPr/>
          </p:nvGrpSpPr>
          <p:grpSpPr>
            <a:xfrm>
              <a:off x="3987772" y="3650127"/>
              <a:ext cx="2108228" cy="1785484"/>
              <a:chOff x="3987772" y="3650127"/>
              <a:chExt cx="2108228" cy="1785484"/>
            </a:xfrm>
          </p:grpSpPr>
          <p:sp>
            <p:nvSpPr>
              <p:cNvPr id="52" name="Number3" descr="0d21d066-47c2-454b-b1ea-30bd1750ac1d"/>
              <p:cNvSpPr/>
              <p:nvPr/>
            </p:nvSpPr>
            <p:spPr>
              <a:xfrm>
                <a:off x="4765167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03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91" name="组合 90" descr="d6d73d91-a778-4efd-8b62-79e1ba2744e4"/>
              <p:cNvGrpSpPr/>
              <p:nvPr/>
            </p:nvGrpSpPr>
            <p:grpSpPr>
              <a:xfrm>
                <a:off x="3987772" y="4236631"/>
                <a:ext cx="2108228" cy="1198980"/>
                <a:chOff x="1906502" y="4601292"/>
                <a:chExt cx="2108228" cy="1198980"/>
              </a:xfrm>
            </p:grpSpPr>
            <p:sp>
              <p:nvSpPr>
                <p:cNvPr id="92" name="Bullet3" descr="6888a6cd-ab45-4c05-86e7-9a89a6d60817"/>
                <p:cNvSpPr txBox="1"/>
                <p:nvPr/>
              </p:nvSpPr>
              <p:spPr>
                <a:xfrm>
                  <a:off x="1906502" y="5090848"/>
                  <a:ext cx="2108228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核心功能全景</a:t>
                  </a:r>
                  <a:endParaRPr lang="en-US" sz="1800" b="1" i="0" u="none" strike="noStrik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cxnSp>
              <p:nvCxnSpPr>
                <p:cNvPr id="94" name="直接连接符 93" descr="c4d1ac2a-d33a-439f-be98-d0a9fb88508b"/>
                <p:cNvCxnSpPr/>
                <p:nvPr/>
              </p:nvCxn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" name="组合 5" descr="7b6030fe-dbb8-4174-a6cc-fac8c26aede8"/>
            <p:cNvGrpSpPr/>
            <p:nvPr/>
          </p:nvGrpSpPr>
          <p:grpSpPr>
            <a:xfrm>
              <a:off x="5680987" y="2441361"/>
              <a:ext cx="2108228" cy="1795270"/>
              <a:chOff x="5680987" y="2441361"/>
              <a:chExt cx="2108228" cy="1795270"/>
            </a:xfrm>
          </p:grpSpPr>
          <p:sp>
            <p:nvSpPr>
              <p:cNvPr id="53" name="Number4" descr="db58e591-5573-43e3-a843-d12ddf4441db"/>
              <p:cNvSpPr/>
              <p:nvPr/>
            </p:nvSpPr>
            <p:spPr>
              <a:xfrm>
                <a:off x="6441849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/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20204"/>
                  </a:rPr>
                  <a:t>04</a:t>
                </a:r>
                <a:endParaRPr lang="en-US" sz="2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95" name="组合 94" descr="00b489df-334f-4645-aa39-1b0d5feaec40"/>
              <p:cNvGrpSpPr/>
              <p:nvPr/>
            </p:nvGrpSpPr>
            <p:grpSpPr>
              <a:xfrm>
                <a:off x="5680987" y="2441361"/>
                <a:ext cx="2108228" cy="1205891"/>
                <a:chOff x="1900152" y="5316110"/>
                <a:chExt cx="2108228" cy="1205891"/>
              </a:xfrm>
            </p:grpSpPr>
            <p:sp>
              <p:nvSpPr>
                <p:cNvPr id="96" name="Bullet4" descr="8c38d45e-c971-4f68-bee4-2e3790b89743"/>
                <p:cNvSpPr txBox="1"/>
                <p:nvPr/>
              </p:nvSpPr>
              <p:spPr>
                <a:xfrm>
                  <a:off x="1900152" y="5316110"/>
                  <a:ext cx="2108228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关键技术实现</a:t>
                  </a:r>
                  <a:endParaRPr lang="en-US" sz="1800" b="1" i="0" u="none" strike="noStrik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cxnSp>
              <p:nvCxnSpPr>
                <p:cNvPr id="98" name="直接连接符 97" descr="7eb4af13-1d6e-4833-97c3-ca6ea10c1836"/>
                <p:cNvCxnSpPr/>
                <p:nvPr/>
              </p:nvCxn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" name="组合 6" descr="6bc809fb-05ad-498f-82e5-1fc4a89c6b17"/>
            <p:cNvGrpSpPr/>
            <p:nvPr/>
          </p:nvGrpSpPr>
          <p:grpSpPr>
            <a:xfrm>
              <a:off x="7364019" y="3650127"/>
              <a:ext cx="2108228" cy="1785484"/>
              <a:chOff x="7364019" y="3650127"/>
              <a:chExt cx="2108228" cy="1785484"/>
            </a:xfrm>
          </p:grpSpPr>
          <p:sp>
            <p:nvSpPr>
              <p:cNvPr id="54" name="Number5" descr="7acfe438-9c3a-4843-a223-e19018d50aa0"/>
              <p:cNvSpPr/>
              <p:nvPr/>
            </p:nvSpPr>
            <p:spPr>
              <a:xfrm>
                <a:off x="8118531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05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99" name="组合 98" descr="2a2e505d-ff8d-4721-9f70-85a70518a5c1"/>
              <p:cNvGrpSpPr/>
              <p:nvPr/>
            </p:nvGrpSpPr>
            <p:grpSpPr>
              <a:xfrm>
                <a:off x="7364019" y="4236631"/>
                <a:ext cx="2108228" cy="1198980"/>
                <a:chOff x="1906502" y="4601292"/>
                <a:chExt cx="2108228" cy="1198980"/>
              </a:xfrm>
            </p:grpSpPr>
            <p:sp>
              <p:nvSpPr>
                <p:cNvPr id="100" name="Bullet5" descr="8c7953b6-fb7a-4ea9-9af6-3702dce452ca"/>
                <p:cNvSpPr txBox="1"/>
                <p:nvPr/>
              </p:nvSpPr>
              <p:spPr>
                <a:xfrm>
                  <a:off x="1906502" y="5090848"/>
                  <a:ext cx="2108228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系统设计亮点</a:t>
                  </a:r>
                  <a:endParaRPr lang="en-US" sz="1800" b="1" i="0" u="none" strike="noStrik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cxnSp>
              <p:nvCxnSpPr>
                <p:cNvPr id="102" name="直接连接符 101" descr="a80f89a8-3f57-463b-9085-72182965b3cd"/>
                <p:cNvCxnSpPr/>
                <p:nvPr/>
              </p:nvCxn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" name="组合 7" descr="cd8bb8a9-11ea-4dff-bbba-6afd03eeaa89"/>
            <p:cNvGrpSpPr/>
            <p:nvPr/>
          </p:nvGrpSpPr>
          <p:grpSpPr>
            <a:xfrm>
              <a:off x="9034351" y="2441361"/>
              <a:ext cx="2108228" cy="1795270"/>
              <a:chOff x="9034351" y="2441361"/>
              <a:chExt cx="2108228" cy="1795270"/>
            </a:xfrm>
          </p:grpSpPr>
          <p:sp>
            <p:nvSpPr>
              <p:cNvPr id="55" name="Number6" descr="c93b93d3-6ff1-4344-a19f-50d20e97d7cf"/>
              <p:cNvSpPr/>
              <p:nvPr/>
            </p:nvSpPr>
            <p:spPr>
              <a:xfrm>
                <a:off x="9795213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/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20204"/>
                  </a:rPr>
                  <a:t>06</a:t>
                </a:r>
                <a:endParaRPr lang="en-US" sz="2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107" name="组合 106" descr="f39782c7-ac70-4c36-964e-597f48bf0cc7"/>
              <p:cNvGrpSpPr/>
              <p:nvPr/>
            </p:nvGrpSpPr>
            <p:grpSpPr>
              <a:xfrm>
                <a:off x="9034351" y="2441361"/>
                <a:ext cx="2108228" cy="1205891"/>
                <a:chOff x="1900152" y="5316110"/>
                <a:chExt cx="2108228" cy="1205891"/>
              </a:xfrm>
            </p:grpSpPr>
            <p:sp>
              <p:nvSpPr>
                <p:cNvPr id="108" name="Bullet6" descr="4c27300d-5088-4def-ba30-606f9730613a"/>
                <p:cNvSpPr txBox="1"/>
                <p:nvPr/>
              </p:nvSpPr>
              <p:spPr>
                <a:xfrm>
                  <a:off x="1900152" y="5316110"/>
                  <a:ext cx="2108228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个人成长与总结</a:t>
                  </a:r>
                  <a:endParaRPr lang="en-US" sz="1800" b="1" i="0" u="none" strike="noStrik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cxnSp>
              <p:nvCxnSpPr>
                <p:cNvPr id="110" name="直接连接符 109" descr="c4489d52-d6de-418b-a834-c4ac4069d7a1"/>
                <p:cNvCxnSpPr/>
                <p:nvPr/>
              </p:nvCxn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0" name="标题 9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目录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4ba0520-b3a6-4c53-82c4-5f3fcfccff0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 panose="020B0503020204020204" charset="-122"/>
              </a:rPr>
              <a:t>项目缘起与目标</a:t>
            </a:r>
            <a:endParaRPr lang="en-US" sz="36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80b90c15-9122-40e0-9afe-3acbf0504dba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 panose="020B0503020204020204" charset="-122"/>
              </a:rPr>
              <a:t>聚焦传统选课管理中的数据分散、协同低效、权限粗放三大痛点，旨在构建一个数据统一、流程线上、权限精细的一站式数字化管理平台。</a:t>
            </a:r>
            <a:endParaRPr lang="en-US" sz="16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e97f7356-3979-444c-b096-b4a5720c7a98.source.3.zh-Hans.pptx" descr="0f93328b-b23b-463e-85f6-89b26b6cca7f"/>
          <p:cNvGrpSpPr/>
          <p:nvPr/>
        </p:nvGrpSpPr>
        <p:grpSpPr>
          <a:xfrm>
            <a:off x="660400" y="1130299"/>
            <a:ext cx="10820398" cy="5003801"/>
            <a:chOff x="660400" y="1130299"/>
            <a:chExt cx="10820398" cy="5003801"/>
          </a:xfrm>
        </p:grpSpPr>
        <p:grpSp>
          <p:nvGrpSpPr>
            <p:cNvPr id="2" name="组合 1" descr="5879f30a-8811-45b4-afc8-dc683a44c045"/>
            <p:cNvGrpSpPr/>
            <p:nvPr/>
          </p:nvGrpSpPr>
          <p:grpSpPr>
            <a:xfrm>
              <a:off x="3230308" y="1420007"/>
              <a:ext cx="8032778" cy="3461853"/>
              <a:chOff x="3230308" y="1420007"/>
              <a:chExt cx="3056192" cy="3461853"/>
            </a:xfrm>
          </p:grpSpPr>
          <p:cxnSp>
            <p:nvCxnSpPr>
              <p:cNvPr id="5" name="直接连接符 4" descr="c917c021-ef4f-4c9a-8fa5-da5bfc9ffaa5"/>
              <p:cNvCxnSpPr/>
              <p:nvPr/>
            </p:nvCxnSpPr>
            <p:spPr>
              <a:xfrm>
                <a:off x="3230308" y="1420007"/>
                <a:ext cx="3056192" cy="0"/>
              </a:xfrm>
              <a:prstGeom prst="line">
                <a:avLst/>
              </a:prstGeom>
              <a:ln w="571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 descr="0ac95904-2a65-485c-8d53-82264bab8a55"/>
              <p:cNvCxnSpPr/>
              <p:nvPr/>
            </p:nvCxnSpPr>
            <p:spPr>
              <a:xfrm>
                <a:off x="3230308" y="3150933"/>
                <a:ext cx="3056192" cy="0"/>
              </a:xfrm>
              <a:prstGeom prst="line">
                <a:avLst/>
              </a:prstGeom>
              <a:ln w="571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 descr="ee7dad71-0289-465d-9621-420f2cb3ddb6"/>
              <p:cNvCxnSpPr/>
              <p:nvPr/>
            </p:nvCxnSpPr>
            <p:spPr>
              <a:xfrm>
                <a:off x="3230308" y="4881860"/>
                <a:ext cx="3056192" cy="0"/>
              </a:xfrm>
              <a:prstGeom prst="line">
                <a:avLst/>
              </a:prstGeom>
              <a:ln w="571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Title" descr="80364c60-7754-49be-9bf5-3674a46c69bf"/>
            <p:cNvSpPr txBox="1"/>
            <p:nvPr/>
          </p:nvSpPr>
          <p:spPr>
            <a:xfrm>
              <a:off x="660400" y="1130299"/>
              <a:ext cx="1369122" cy="4396673"/>
            </a:xfrm>
            <a:prstGeom prst="rect">
              <a:avLst/>
            </a:prstGeom>
            <a:noFill/>
          </p:spPr>
          <p:txBody>
            <a:bodyPr vert="eaVert" wrap="square" lIns="91440" tIns="45720" rIns="91440" bIns="45720" rtlCol="0" anchor="t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0236DE"/>
                  </a:solidFill>
                  <a:ea typeface="微软雅黑" panose="020B0503020204020204" charset="-122"/>
                </a:rPr>
                <a:t>剖析当前学生选课管理中存在的主要问题</a:t>
              </a:r>
              <a:endParaRPr lang="en-US" sz="2400" b="1" i="0" u="none">
                <a:solidFill>
                  <a:srgbClr val="0236DE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8" name="组合 7" descr="3ac8dc6e-3194-4c8b-ad1c-951c2fccc060"/>
            <p:cNvGrpSpPr/>
            <p:nvPr/>
          </p:nvGrpSpPr>
          <p:grpSpPr>
            <a:xfrm>
              <a:off x="3230308" y="1477680"/>
              <a:ext cx="8250490" cy="4656420"/>
              <a:chOff x="3230308" y="1477680"/>
              <a:chExt cx="8250490" cy="4656420"/>
            </a:xfrm>
          </p:grpSpPr>
          <p:grpSp>
            <p:nvGrpSpPr>
              <p:cNvPr id="4" name="组合 3" descr="82cf8d85-1565-4543-b6bb-a74ea7d36327"/>
              <p:cNvGrpSpPr/>
              <p:nvPr/>
            </p:nvGrpSpPr>
            <p:grpSpPr>
              <a:xfrm>
                <a:off x="3230308" y="1477680"/>
                <a:ext cx="8250490" cy="1194567"/>
                <a:chOff x="3230308" y="1477680"/>
                <a:chExt cx="8250490" cy="1194567"/>
              </a:xfrm>
            </p:grpSpPr>
            <p:sp>
              <p:nvSpPr>
                <p:cNvPr id="15" name="Number1" descr="f1c54c30-3b7e-4707-8870-808bc7af6e12"/>
                <p:cNvSpPr txBox="1"/>
                <p:nvPr/>
              </p:nvSpPr>
              <p:spPr>
                <a:xfrm>
                  <a:off x="3230308" y="1640301"/>
                  <a:ext cx="561152" cy="587441"/>
                </a:xfrm>
                <a:prstGeom prst="rect">
                  <a:avLst/>
                </a:prstGeom>
                <a:solidFill>
                  <a:schemeClr val="tx2"/>
                </a:solidFill>
              </p:spPr>
              <p:txBody>
                <a:bodyPr wrap="none" lIns="108000" tIns="108000" rIns="108000" bIns="108000" rtlCol="0" anchor="b" anchorCtr="1">
                  <a:spAutoFit/>
                </a:bodyPr>
                <a:lstStyle/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01</a:t>
                  </a:r>
                  <a:endParaRPr lang="en-US" sz="2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17" name="Bullet1" descr="5f437b4a-c3d9-471d-8e8c-6df70df387b7"/>
                <p:cNvSpPr/>
                <p:nvPr/>
              </p:nvSpPr>
              <p:spPr>
                <a:xfrm>
                  <a:off x="4002642" y="1477680"/>
                  <a:ext cx="3167592" cy="119456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l"/>
                  <a:r>
                    <a: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数据分散统计难</a:t>
                  </a:r>
                  <a:endPara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19" name="Text1" descr="324f1622-b1d9-492b-b21c-84827b63aa39"/>
                <p:cNvSpPr/>
                <p:nvPr/>
              </p:nvSpPr>
              <p:spPr>
                <a:xfrm>
                  <a:off x="7170234" y="1520713"/>
                  <a:ext cx="4310564" cy="109986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学生、教师、课程信息分表管理，人工汇总效率低、易出错，数据难以形成有效视图，影响管理决策。</a:t>
                  </a:r>
                  <a:endPara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6" name="组合 5" descr="b17f5ed1-4203-414d-8eb7-56341e75015d"/>
              <p:cNvGrpSpPr/>
              <p:nvPr/>
            </p:nvGrpSpPr>
            <p:grpSpPr>
              <a:xfrm>
                <a:off x="3230308" y="3208606"/>
                <a:ext cx="8250490" cy="1194567"/>
                <a:chOff x="3230308" y="3208606"/>
                <a:chExt cx="8250490" cy="1194567"/>
              </a:xfrm>
            </p:grpSpPr>
            <p:sp>
              <p:nvSpPr>
                <p:cNvPr id="45" name="Number2" descr="f3feb0e8-e7aa-47e6-a2a0-8a197e4da636"/>
                <p:cNvSpPr txBox="1"/>
                <p:nvPr/>
              </p:nvSpPr>
              <p:spPr>
                <a:xfrm>
                  <a:off x="3230308" y="3371227"/>
                  <a:ext cx="561152" cy="587441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none" lIns="108000" tIns="108000" rIns="108000" bIns="108000" rtlCol="0" anchor="b" anchorCtr="1">
                  <a:spAutoFit/>
                </a:bodyPr>
                <a:lstStyle/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02</a:t>
                  </a:r>
                  <a:endParaRPr lang="en-US" sz="2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46" name="Bullet2" descr="dd6842fd-f103-4e21-8e1a-8930b204b617"/>
                <p:cNvSpPr/>
                <p:nvPr/>
              </p:nvSpPr>
              <p:spPr>
                <a:xfrm>
                  <a:off x="4002642" y="3208606"/>
                  <a:ext cx="3167592" cy="119456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l"/>
                  <a:r>
                    <a: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流程繁琐协同低</a:t>
                  </a:r>
                  <a:endPara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5" name="Text2" descr="b1f70f6e-c9e9-4531-ad5d-62197b567a6e"/>
                <p:cNvSpPr/>
                <p:nvPr/>
              </p:nvSpPr>
              <p:spPr>
                <a:xfrm>
                  <a:off x="7170234" y="3237981"/>
                  <a:ext cx="4310564" cy="109986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选课、成绩录入依赖线下表格传递，信息同步滞后，选课冲突、数据遗漏等问题频发，协同效率低下。</a:t>
                  </a:r>
                  <a:endPara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7" name="组合 6" descr="41ffedd5-39c5-4514-8e5b-a0b3340128dd"/>
              <p:cNvGrpSpPr/>
              <p:nvPr/>
            </p:nvGrpSpPr>
            <p:grpSpPr>
              <a:xfrm>
                <a:off x="3230308" y="4939533"/>
                <a:ext cx="8250490" cy="1194567"/>
                <a:chOff x="3230308" y="4939533"/>
                <a:chExt cx="8250490" cy="1194567"/>
              </a:xfrm>
            </p:grpSpPr>
            <p:sp>
              <p:nvSpPr>
                <p:cNvPr id="22" name="Number3" descr="52b4b110-47ef-47d1-ad10-6c263627bd56"/>
                <p:cNvSpPr txBox="1"/>
                <p:nvPr/>
              </p:nvSpPr>
              <p:spPr>
                <a:xfrm>
                  <a:off x="3230308" y="5102154"/>
                  <a:ext cx="561152" cy="587441"/>
                </a:xfrm>
                <a:prstGeom prst="rect">
                  <a:avLst/>
                </a:prstGeom>
                <a:solidFill>
                  <a:schemeClr val="tx2"/>
                </a:solidFill>
              </p:spPr>
              <p:txBody>
                <a:bodyPr wrap="none" lIns="108000" tIns="108000" rIns="108000" bIns="108000" rtlCol="0" anchor="b" anchorCtr="1">
                  <a:spAutoFit/>
                </a:bodyPr>
                <a:lstStyle/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03</a:t>
                  </a:r>
                  <a:endParaRPr lang="en-US" sz="2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23" name="Bullet3" descr="c76353ae-b5d9-41b9-9c0d-28237a4e6d72"/>
                <p:cNvSpPr/>
                <p:nvPr/>
              </p:nvSpPr>
              <p:spPr>
                <a:xfrm>
                  <a:off x="4002642" y="4939533"/>
                  <a:ext cx="3167592" cy="119456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l"/>
                  <a:r>
                    <a: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权限粗放缺乏管控</a:t>
                  </a:r>
                  <a:endPara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7" name="Text3" descr="8f477485-54d9-4d09-a6ff-2f4f19630db7"/>
                <p:cNvSpPr/>
                <p:nvPr/>
              </p:nvSpPr>
              <p:spPr>
                <a:xfrm>
                  <a:off x="7170234" y="4955250"/>
                  <a:ext cx="4310564" cy="109986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传统系统权限划分简单，无法满足管理员、教师、学生精细化操作需求，存在数据安全隐患。</a:t>
                  </a:r>
                  <a:endPara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</p:grpSp>
        </p:grpSp>
      </p:grpSp>
      <p:sp>
        <p:nvSpPr>
          <p:cNvPr id="3" name="标题 2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传统管理痛点分析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56bc4752-e607-4e2d-9bda-66f7fb2f8f7b.source.3.zh-Hans.pptx" descr="4d3e0bd1-178f-4808-b513-9b0e35fa5254"/>
          <p:cNvGrpSpPr/>
          <p:nvPr/>
        </p:nvGrpSpPr>
        <p:grpSpPr>
          <a:xfrm>
            <a:off x="660400" y="1130300"/>
            <a:ext cx="10858500" cy="4511918"/>
            <a:chOff x="660400" y="1130300"/>
            <a:chExt cx="10858500" cy="4511918"/>
          </a:xfrm>
        </p:grpSpPr>
        <p:sp>
          <p:nvSpPr>
            <p:cNvPr id="2" name="işḷiďè" descr="43987b9e-9fc2-4f0c-af97-6aece1136dca"/>
            <p:cNvSpPr/>
            <p:nvPr/>
          </p:nvSpPr>
          <p:spPr>
            <a:xfrm>
              <a:off x="673102" y="2166470"/>
              <a:ext cx="3475751" cy="3475748"/>
            </a:xfrm>
            <a:prstGeom prst="ellipse">
              <a:avLst/>
            </a:prstGeom>
            <a:noFill/>
            <a:ln w="6350" cap="rnd">
              <a:solidFill>
                <a:schemeClr val="tx2">
                  <a:alpha val="50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</a:p>
          </p:txBody>
        </p:sp>
        <p:sp>
          <p:nvSpPr>
            <p:cNvPr id="3" name="ïṡľiḍe" descr="55852a63-74af-42df-bba8-838672af5064"/>
            <p:cNvSpPr/>
            <p:nvPr/>
          </p:nvSpPr>
          <p:spPr>
            <a:xfrm>
              <a:off x="4358126" y="2166470"/>
              <a:ext cx="3475751" cy="3475748"/>
            </a:xfrm>
            <a:prstGeom prst="ellipse">
              <a:avLst/>
            </a:prstGeom>
            <a:noFill/>
            <a:ln w="6350" cap="rnd">
              <a:solidFill>
                <a:schemeClr val="tx2">
                  <a:alpha val="50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</a:p>
          </p:txBody>
        </p:sp>
        <p:sp>
          <p:nvSpPr>
            <p:cNvPr id="4" name="îsḻíḑè" descr="939f2b09-36b4-44ce-80ce-d8126e152c4d"/>
            <p:cNvSpPr/>
            <p:nvPr/>
          </p:nvSpPr>
          <p:spPr>
            <a:xfrm>
              <a:off x="8043149" y="2166470"/>
              <a:ext cx="3475751" cy="3475748"/>
            </a:xfrm>
            <a:prstGeom prst="ellipse">
              <a:avLst/>
            </a:prstGeom>
            <a:noFill/>
            <a:ln w="6350" cap="rnd">
              <a:solidFill>
                <a:schemeClr val="tx2">
                  <a:alpha val="50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</a:p>
          </p:txBody>
        </p:sp>
        <p:cxnSp>
          <p:nvCxnSpPr>
            <p:cNvPr id="8" name="íṩliḍé" descr="d20a17e8-59a7-4af9-b8bf-76804af0c16d"/>
            <p:cNvCxnSpPr/>
            <p:nvPr/>
          </p:nvCxnSpPr>
          <p:spPr>
            <a:xfrm>
              <a:off x="1051466" y="3362075"/>
              <a:ext cx="2719023" cy="0"/>
            </a:xfrm>
            <a:prstGeom prst="line">
              <a:avLst/>
            </a:prstGeom>
            <a:noFill/>
            <a:ln w="6350" cap="rnd">
              <a:solidFill>
                <a:schemeClr val="tx2">
                  <a:alpha val="50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íś1iďé" descr="2740ea51-2de2-448f-9e73-e6f73c7c9267"/>
            <p:cNvCxnSpPr/>
            <p:nvPr/>
          </p:nvCxnSpPr>
          <p:spPr>
            <a:xfrm>
              <a:off x="4736488" y="3362075"/>
              <a:ext cx="2719023" cy="0"/>
            </a:xfrm>
            <a:prstGeom prst="line">
              <a:avLst/>
            </a:prstGeom>
            <a:noFill/>
            <a:ln w="6350" cap="rnd">
              <a:solidFill>
                <a:schemeClr val="tx2">
                  <a:alpha val="50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" name="îṥliďè" descr="5dffbc73-5c9c-49f9-a1bd-4e1bf223e091"/>
            <p:cNvCxnSpPr/>
            <p:nvPr/>
          </p:nvCxnSpPr>
          <p:spPr>
            <a:xfrm>
              <a:off x="8421513" y="3362075"/>
              <a:ext cx="2719023" cy="0"/>
            </a:xfrm>
            <a:prstGeom prst="line">
              <a:avLst/>
            </a:prstGeom>
            <a:ln w="6350" cap="rnd">
              <a:solidFill>
                <a:schemeClr val="tx2"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itle" descr="44d6cabe-a643-4a4c-88e4-4603a1e8f836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明确系统要达成的核心价值与最终形态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18" name="组合 17" descr="13dd512a-ffb3-45a8-a351-28068ab27480"/>
            <p:cNvGrpSpPr/>
            <p:nvPr/>
          </p:nvGrpSpPr>
          <p:grpSpPr>
            <a:xfrm>
              <a:off x="675040" y="2166470"/>
              <a:ext cx="3201869" cy="2612358"/>
              <a:chOff x="675040" y="2166470"/>
              <a:chExt cx="3201869" cy="2612358"/>
            </a:xfrm>
          </p:grpSpPr>
          <p:sp>
            <p:nvSpPr>
              <p:cNvPr id="5" name="Text1" descr="5532e200-055a-4708-930f-3c53c10db9ef"/>
              <p:cNvSpPr txBox="1"/>
              <p:nvPr/>
            </p:nvSpPr>
            <p:spPr>
              <a:xfrm>
                <a:off x="945044" y="3362074"/>
                <a:ext cx="2931865" cy="141675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打造一个集信息维护、选课管理、成绩录入、数据统计于一体的综合性管理平台，实现数据互通与业务闭环。</a:t>
                </a:r>
                <a:endParaRPr lang="en-US" sz="12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6" name="Bullet1" descr="85977115-8cc8-4668-b12b-b1556fa400ad"/>
              <p:cNvSpPr txBox="1"/>
              <p:nvPr/>
            </p:nvSpPr>
            <p:spPr>
              <a:xfrm>
                <a:off x="1143000" y="2826230"/>
                <a:ext cx="2535952" cy="535844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构建一站式平台</a:t>
                </a:r>
                <a:endParaRPr lang="en-US" sz="1800" b="1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" name="Number1" descr="a1205745-ae55-4ef7-9b43-86d3c158a2bc"/>
              <p:cNvSpPr/>
              <p:nvPr/>
            </p:nvSpPr>
            <p:spPr>
              <a:xfrm>
                <a:off x="675040" y="2166470"/>
                <a:ext cx="423486" cy="423485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sz="1400" b="1" i="0" u="none">
                    <a:solidFill>
                      <a:srgbClr val="FFFFFF"/>
                    </a:solidFill>
                    <a:latin typeface="Arial" panose="020B0604020202020204"/>
                  </a:rPr>
                  <a:t>1</a:t>
                </a:r>
                <a:endParaRPr lang="en-US" sz="14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19" name="组合 18" descr="24d781ce-d9b5-4261-94a3-38d111dcaaac"/>
            <p:cNvGrpSpPr/>
            <p:nvPr/>
          </p:nvGrpSpPr>
          <p:grpSpPr>
            <a:xfrm>
              <a:off x="4358126" y="2166470"/>
              <a:ext cx="3203805" cy="2612358"/>
              <a:chOff x="4358126" y="2166470"/>
              <a:chExt cx="3203805" cy="2612358"/>
            </a:xfrm>
          </p:grpSpPr>
          <p:sp>
            <p:nvSpPr>
              <p:cNvPr id="11" name="Text2" descr="8a69d876-3a2f-47da-9f40-b2fe043a4d2d"/>
              <p:cNvSpPr txBox="1"/>
              <p:nvPr/>
            </p:nvSpPr>
            <p:spPr>
              <a:xfrm>
                <a:off x="4630066" y="3362074"/>
                <a:ext cx="2931865" cy="141675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覆盖从“学生入学”到“课程成绩录入”的全生命周期，通过数字化手段规范业务流程，提升管理效率。</a:t>
                </a:r>
                <a:endParaRPr lang="en-US" sz="12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2" name="Bullet2" descr="f38c5309-48b3-489e-9457-2c6727c8eac2"/>
              <p:cNvSpPr txBox="1"/>
              <p:nvPr/>
            </p:nvSpPr>
            <p:spPr>
              <a:xfrm>
                <a:off x="4828023" y="2826230"/>
                <a:ext cx="2535952" cy="535844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实现全周期闭环</a:t>
                </a:r>
                <a:endParaRPr lang="en-US" sz="1800" b="1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0" name="Number2" descr="10117b43-7440-433f-8f65-089315e3aecc"/>
              <p:cNvSpPr/>
              <p:nvPr/>
            </p:nvSpPr>
            <p:spPr>
              <a:xfrm>
                <a:off x="4358126" y="2166470"/>
                <a:ext cx="423486" cy="423485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sz="1400" b="1" i="0" u="none">
                    <a:solidFill>
                      <a:srgbClr val="FFFFFF"/>
                    </a:solidFill>
                    <a:latin typeface="Arial" panose="020B0604020202020204"/>
                  </a:rPr>
                  <a:t>2</a:t>
                </a:r>
                <a:endParaRPr lang="en-US" sz="14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22" name="组合 21" descr="01a0ab55-f24a-4195-be61-83462ee7fc81"/>
            <p:cNvGrpSpPr/>
            <p:nvPr/>
          </p:nvGrpSpPr>
          <p:grpSpPr>
            <a:xfrm>
              <a:off x="8043149" y="2166470"/>
              <a:ext cx="3203807" cy="2612358"/>
              <a:chOff x="8043149" y="2166470"/>
              <a:chExt cx="3203807" cy="2612358"/>
            </a:xfrm>
          </p:grpSpPr>
          <p:sp>
            <p:nvSpPr>
              <p:cNvPr id="14" name="Text3" descr="b48d284e-7639-4b4a-9650-287fbc2b6934"/>
              <p:cNvSpPr txBox="1"/>
              <p:nvPr/>
            </p:nvSpPr>
            <p:spPr>
              <a:xfrm>
                <a:off x="8315091" y="3362074"/>
                <a:ext cx="2931865" cy="141675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为管理员、教师、学生等不同角色提供定制化的功能与操作界面，促进三方高效协同，提升教学质量与管理水平。</a:t>
                </a:r>
                <a:endParaRPr lang="en-US" sz="12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5" name="Bullet3" descr="19d822fd-9d92-454f-b144-ba2c34150864"/>
              <p:cNvSpPr txBox="1"/>
              <p:nvPr/>
            </p:nvSpPr>
            <p:spPr>
              <a:xfrm>
                <a:off x="8513048" y="2826230"/>
                <a:ext cx="2535952" cy="535844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赋能多角色协同</a:t>
                </a:r>
                <a:endParaRPr lang="en-US" sz="1800" b="1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1" name="Number3" descr="e58ed3eb-78ba-4077-8c08-fbf692f7e477"/>
              <p:cNvSpPr/>
              <p:nvPr/>
            </p:nvSpPr>
            <p:spPr>
              <a:xfrm>
                <a:off x="8043149" y="2166470"/>
                <a:ext cx="423486" cy="423485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sz="1400" b="1" i="0" u="none">
                    <a:solidFill>
                      <a:srgbClr val="FFFFFF"/>
                    </a:solidFill>
                    <a:latin typeface="Arial" panose="020B0604020202020204"/>
                  </a:rPr>
                  <a:t>3</a:t>
                </a:r>
                <a:endParaRPr lang="en-US" sz="14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</p:grpSp>
      <p:sp>
        <p:nvSpPr>
          <p:cNvPr id="17" name="标题 16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系统建设总目标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4ba0520-b3a6-4c53-82c4-5f3fcfccff0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 panose="020B0503020204020204" charset="-122"/>
              </a:rPr>
              <a:t>系统纵览与架构</a:t>
            </a:r>
            <a:endParaRPr lang="en-US" sz="36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80b90c15-9122-40e0-9afe-3acbf0504dba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 panose="020B0503020204020204" charset="-122"/>
              </a:rPr>
              <a:t>介绍系统的核心数据模型、多角色协同架构及系统核心价值，全面展示系统顶层设计。</a:t>
            </a:r>
            <a:endParaRPr lang="en-US" sz="16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6d649ebf-74bc-446c-add3-cfd664cd660c.source.5.zh-Hans.pptx" descr="6d7fe80a-d3c0-4f90-8fd3-6f3610870e11"/>
          <p:cNvGrpSpPr/>
          <p:nvPr/>
        </p:nvGrpSpPr>
        <p:grpSpPr>
          <a:xfrm>
            <a:off x="1" y="1130300"/>
            <a:ext cx="12191999" cy="5727700"/>
            <a:chOff x="1" y="1130300"/>
            <a:chExt cx="12191999" cy="5727700"/>
          </a:xfrm>
        </p:grpSpPr>
        <p:sp>
          <p:nvSpPr>
            <p:cNvPr id="13" name="PictureMisc1" descr="aa6ce5fb-21e2-4a7e-aa44-1ed2fcafc31f"/>
            <p:cNvSpPr/>
            <p:nvPr/>
          </p:nvSpPr>
          <p:spPr>
            <a:xfrm>
              <a:off x="1" y="4454604"/>
              <a:ext cx="12191999" cy="2403396"/>
            </a:xfrm>
            <a:prstGeom prst="rect">
              <a:avLst/>
            </a:prstGeom>
            <a:blipFill rotWithShape="1">
              <a:blip r:embed="rId1"/>
              <a:srcRect/>
              <a:stretch>
                <a:fillRect t="-5341" b="-184535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sp>
          <p:nvSpPr>
            <p:cNvPr id="14" name="c" descr="c7f043c2-c98b-4e97-9bf2-60f4a7b4ee69"/>
            <p:cNvSpPr/>
            <p:nvPr/>
          </p:nvSpPr>
          <p:spPr>
            <a:xfrm>
              <a:off x="598591" y="1824048"/>
              <a:ext cx="10994819" cy="4310052"/>
            </a:xfrm>
            <a:prstGeom prst="roundRect">
              <a:avLst>
                <a:gd name="adj" fmla="val 3015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 w="6350"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162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</a:p>
          </p:txBody>
        </p:sp>
        <p:cxnSp>
          <p:nvCxnSpPr>
            <p:cNvPr id="15" name="直接连接符 14" descr="6aeadf92-db21-4171-905d-0c21c12d87ba"/>
            <p:cNvCxnSpPr>
              <a:stCxn id="29" idx="1"/>
              <a:endCxn id="32" idx="3"/>
            </p:cNvCxnSpPr>
            <p:nvPr/>
          </p:nvCxnSpPr>
          <p:spPr>
            <a:xfrm>
              <a:off x="3379733" y="4176507"/>
              <a:ext cx="5306516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 descr="db641f3d-655e-4566-a22a-98766ffd2fb4"/>
            <p:cNvCxnSpPr>
              <a:stCxn id="41" idx="3"/>
            </p:cNvCxnSpPr>
            <p:nvPr/>
          </p:nvCxnSpPr>
          <p:spPr>
            <a:xfrm>
              <a:off x="2868646" y="2158127"/>
              <a:ext cx="6931611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itle" descr="7661db39-60bf-4646-8df8-28e4a7d2d7e9"/>
            <p:cNvSpPr/>
            <p:nvPr/>
          </p:nvSpPr>
          <p:spPr>
            <a:xfrm>
              <a:off x="660399" y="1130300"/>
              <a:ext cx="10858500" cy="608093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展示系统底层数据库的关键表结构及其关联关系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45" name="组合 44" descr="d6b04e63-cdc4-485f-b781-a6de7bf41558"/>
            <p:cNvGrpSpPr/>
            <p:nvPr/>
          </p:nvGrpSpPr>
          <p:grpSpPr>
            <a:xfrm>
              <a:off x="666750" y="2008394"/>
              <a:ext cx="3513691" cy="1984962"/>
              <a:chOff x="666750" y="2008394"/>
              <a:chExt cx="3513691" cy="1984962"/>
            </a:xfrm>
          </p:grpSpPr>
          <p:sp>
            <p:nvSpPr>
              <p:cNvPr id="39" name="Bullet1" descr="63a985e9-225b-4530-ae46-40972af6aa8b"/>
              <p:cNvSpPr txBox="1"/>
              <p:nvPr/>
            </p:nvSpPr>
            <p:spPr>
              <a:xfrm>
                <a:off x="666750" y="2428129"/>
                <a:ext cx="3513691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学生信息表 (Student)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0" name="Text1" descr="972b2600-40fd-4367-ad4a-dd34bca43e29"/>
              <p:cNvSpPr txBox="1"/>
              <p:nvPr/>
            </p:nvSpPr>
            <p:spPr>
              <a:xfrm>
                <a:off x="666750" y="3084652"/>
                <a:ext cx="3513691" cy="908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核心字段包括学号(sno)、姓名(sname)、性别(ssex)、年龄(sage)、所在院系(sdept)等。</a:t>
                </a:r>
                <a:endParaRPr lang="en-US" sz="12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1" name="Number1" descr="cb5a9482-dd7b-48c3-b267-d0acb23dd1ab"/>
              <p:cNvSpPr txBox="1"/>
              <p:nvPr/>
            </p:nvSpPr>
            <p:spPr>
              <a:xfrm>
                <a:off x="1965844" y="2008394"/>
                <a:ext cx="902802" cy="299465"/>
              </a:xfrm>
              <a:prstGeom prst="chevron">
                <a:avLst>
                  <a:gd name="adj" fmla="val 3784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sz="1000" b="1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200" b="1" i="0" u="none">
                    <a:solidFill>
                      <a:srgbClr val="0236DE"/>
                    </a:solidFill>
                    <a:latin typeface="Arial" panose="020B0604020202020204"/>
                  </a:rPr>
                  <a:t>1</a:t>
                </a:r>
                <a:endParaRPr lang="en-US" sz="1200" b="1" i="0" u="none">
                  <a:solidFill>
                    <a:srgbClr val="0236DE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46" name="组合 45" descr="a8ef9746-64a1-450c-a1d6-2071045d2e7e"/>
            <p:cNvGrpSpPr/>
            <p:nvPr/>
          </p:nvGrpSpPr>
          <p:grpSpPr>
            <a:xfrm>
              <a:off x="4335980" y="2008394"/>
              <a:ext cx="3513691" cy="1984962"/>
              <a:chOff x="4335980" y="2008394"/>
              <a:chExt cx="3513691" cy="1984962"/>
            </a:xfrm>
          </p:grpSpPr>
          <p:sp>
            <p:nvSpPr>
              <p:cNvPr id="36" name="Bullet2" descr="b4a03a2d-2661-476e-9f2e-ccba69d31cc2"/>
              <p:cNvSpPr txBox="1"/>
              <p:nvPr/>
            </p:nvSpPr>
            <p:spPr>
              <a:xfrm>
                <a:off x="4335980" y="2428129"/>
                <a:ext cx="3513691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教师信息表 (Teacher)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7" name="Text2" descr="7d698d8d-a788-4c04-8bea-00a9de5dd8dd"/>
              <p:cNvSpPr txBox="1"/>
              <p:nvPr/>
            </p:nvSpPr>
            <p:spPr>
              <a:xfrm>
                <a:off x="4335980" y="3084652"/>
                <a:ext cx="3513691" cy="908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核心字段包括教工号(tno)、姓名(tname)、性别(tsex)、年龄(tage)、学历(teb)、职称(tpt)等。</a:t>
                </a:r>
                <a:endParaRPr lang="en-US" sz="12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8" name="Number2" descr="33303b4d-75b8-43fb-9107-811eb522960e"/>
              <p:cNvSpPr txBox="1"/>
              <p:nvPr/>
            </p:nvSpPr>
            <p:spPr>
              <a:xfrm>
                <a:off x="5638248" y="2008394"/>
                <a:ext cx="902802" cy="299465"/>
              </a:xfrm>
              <a:prstGeom prst="chevron">
                <a:avLst>
                  <a:gd name="adj" fmla="val 3784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sz="1000" b="1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200" b="1" i="0" u="none">
                    <a:solidFill>
                      <a:srgbClr val="0236DE"/>
                    </a:solidFill>
                    <a:latin typeface="Arial" panose="020B0604020202020204"/>
                  </a:rPr>
                  <a:t>2</a:t>
                </a:r>
                <a:endParaRPr lang="en-US" sz="1200" b="1" i="0" u="none">
                  <a:solidFill>
                    <a:srgbClr val="0236DE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47" name="组合 46" descr="c7974719-d37e-466b-8727-f1591792a42c"/>
            <p:cNvGrpSpPr/>
            <p:nvPr/>
          </p:nvGrpSpPr>
          <p:grpSpPr>
            <a:xfrm>
              <a:off x="8005209" y="2008394"/>
              <a:ext cx="3513691" cy="1984962"/>
              <a:chOff x="8005209" y="2008394"/>
              <a:chExt cx="3513691" cy="1984962"/>
            </a:xfrm>
          </p:grpSpPr>
          <p:sp>
            <p:nvSpPr>
              <p:cNvPr id="33" name="Bullet3" descr="25b8f82b-dca0-4461-980e-c00d40026f51"/>
              <p:cNvSpPr txBox="1"/>
              <p:nvPr/>
            </p:nvSpPr>
            <p:spPr>
              <a:xfrm>
                <a:off x="8005209" y="2428129"/>
                <a:ext cx="3513691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课程信息表 (Course)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4" name="Text3" descr="d5e650db-2fcc-4c79-b386-8b93282e4c92"/>
              <p:cNvSpPr txBox="1"/>
              <p:nvPr/>
            </p:nvSpPr>
            <p:spPr>
              <a:xfrm>
                <a:off x="8005209" y="3084652"/>
                <a:ext cx="3513691" cy="908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核心字段包括课程号(cno)、课程名(cname)、先行课编号(cpno)、学分(ccredit)等。</a:t>
                </a:r>
                <a:endParaRPr lang="en-US" sz="12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5" name="Number3" descr="c0a49732-a4c3-4d1a-a2f1-796979f425d8"/>
              <p:cNvSpPr txBox="1"/>
              <p:nvPr/>
            </p:nvSpPr>
            <p:spPr>
              <a:xfrm>
                <a:off x="9310653" y="2008394"/>
                <a:ext cx="902802" cy="299465"/>
              </a:xfrm>
              <a:prstGeom prst="chevron">
                <a:avLst>
                  <a:gd name="adj" fmla="val 3784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sz="1000" b="1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200" b="1" i="0" u="none">
                    <a:solidFill>
                      <a:srgbClr val="0236DE"/>
                    </a:solidFill>
                    <a:latin typeface="Arial" panose="020B0604020202020204"/>
                  </a:rPr>
                  <a:t>3</a:t>
                </a:r>
                <a:endParaRPr lang="en-US" sz="1200" b="1" i="0" u="none">
                  <a:solidFill>
                    <a:srgbClr val="0236DE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48" name="组合 47" descr="2a10a9d3-5c28-46d0-a330-e823e7a52646"/>
            <p:cNvGrpSpPr/>
            <p:nvPr/>
          </p:nvGrpSpPr>
          <p:grpSpPr>
            <a:xfrm>
              <a:off x="6756400" y="4026774"/>
              <a:ext cx="4762500" cy="1984962"/>
              <a:chOff x="6756400" y="4026774"/>
              <a:chExt cx="4762500" cy="1984962"/>
            </a:xfrm>
          </p:grpSpPr>
          <p:sp>
            <p:nvSpPr>
              <p:cNvPr id="30" name="Bullet4" descr="3cb080ea-7a29-4d7c-8e4c-06310220d618"/>
              <p:cNvSpPr txBox="1"/>
              <p:nvPr/>
            </p:nvSpPr>
            <p:spPr>
              <a:xfrm>
                <a:off x="6756400" y="4446509"/>
                <a:ext cx="4762500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院系信息表 (Department)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1" name="Text4" descr="e70569e8-ba8f-4b10-a5e3-b7809cbaa1af"/>
              <p:cNvSpPr txBox="1"/>
              <p:nvPr/>
            </p:nvSpPr>
            <p:spPr>
              <a:xfrm>
                <a:off x="6756400" y="5103032"/>
                <a:ext cx="4762500" cy="908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核心字段包括系编号(dno)、系名(dname)、系主任(dmanager)等。</a:t>
                </a:r>
                <a:endParaRPr lang="en-US" sz="12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2" name="Number4" descr="982ba4fa-0764-486a-a143-c10254addd2a"/>
              <p:cNvSpPr txBox="1"/>
              <p:nvPr/>
            </p:nvSpPr>
            <p:spPr>
              <a:xfrm flipH="1">
                <a:off x="8686249" y="4026774"/>
                <a:ext cx="902802" cy="299465"/>
              </a:xfrm>
              <a:prstGeom prst="chevron">
                <a:avLst>
                  <a:gd name="adj" fmla="val 3784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sz="1000" b="1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200" b="1" i="0" u="none">
                    <a:solidFill>
                      <a:srgbClr val="0236DE"/>
                    </a:solidFill>
                    <a:latin typeface="Arial" panose="020B0604020202020204"/>
                  </a:rPr>
                  <a:t>4</a:t>
                </a:r>
                <a:endParaRPr lang="en-US" sz="1200" b="1" i="0" u="none">
                  <a:solidFill>
                    <a:srgbClr val="0236DE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49" name="组合 48" descr="6316730a-dabb-467d-b8a7-8b427d5ad165"/>
            <p:cNvGrpSpPr/>
            <p:nvPr/>
          </p:nvGrpSpPr>
          <p:grpSpPr>
            <a:xfrm>
              <a:off x="660400" y="4026774"/>
              <a:ext cx="4762500" cy="1984962"/>
              <a:chOff x="660400" y="4026774"/>
              <a:chExt cx="4762500" cy="1984962"/>
            </a:xfrm>
          </p:grpSpPr>
          <p:sp>
            <p:nvSpPr>
              <p:cNvPr id="27" name="Bullet5" descr="64fc552d-72b6-4746-960e-4d2903703d83"/>
              <p:cNvSpPr txBox="1"/>
              <p:nvPr/>
            </p:nvSpPr>
            <p:spPr>
              <a:xfrm>
                <a:off x="660400" y="4446509"/>
                <a:ext cx="4762500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选课信息表 (SCT)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8" name="Text5" descr="5b550606-85a4-45b4-9761-c55c6d207fd0"/>
              <p:cNvSpPr txBox="1"/>
              <p:nvPr/>
            </p:nvSpPr>
            <p:spPr>
              <a:xfrm>
                <a:off x="660400" y="5103032"/>
                <a:ext cx="4762500" cy="908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核心字段包括学号(sno)、课程号(cno)、教工号(tno)、成绩(grade)，用于关联学生、课程与教师。</a:t>
                </a:r>
                <a:endParaRPr lang="en-US" sz="12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9" name="Number5" descr="d413707b-19f7-439a-adef-0dfa5e0b9a10"/>
              <p:cNvSpPr txBox="1"/>
              <p:nvPr/>
            </p:nvSpPr>
            <p:spPr>
              <a:xfrm flipH="1">
                <a:off x="2590249" y="4026774"/>
                <a:ext cx="902802" cy="299465"/>
              </a:xfrm>
              <a:prstGeom prst="chevron">
                <a:avLst>
                  <a:gd name="adj" fmla="val 3784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sz="1000" b="1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200" b="1" i="0" u="none">
                    <a:solidFill>
                      <a:srgbClr val="0236DE"/>
                    </a:solidFill>
                    <a:latin typeface="Arial" panose="020B0604020202020204"/>
                  </a:rPr>
                  <a:t>5</a:t>
                </a:r>
                <a:endParaRPr lang="en-US" sz="1200" b="1" i="0" u="none">
                  <a:solidFill>
                    <a:srgbClr val="0236DE"/>
                  </a:solidFill>
                  <a:latin typeface="Arial" panose="020B0604020202020204"/>
                </a:endParaRPr>
              </a:p>
            </p:txBody>
          </p:sp>
        </p:grpSp>
      </p:grpSp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核心数据模型展示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37e9254f-cd01-4222-a8b3-518de6c71795.source.3.zh-Hans.pptx" descr="37fc26f4-d437-4982-8e9c-510625fb3c1c"/>
          <p:cNvGrpSpPr/>
          <p:nvPr/>
        </p:nvGrpSpPr>
        <p:grpSpPr>
          <a:xfrm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id="10" name="Title" descr="529f15c4-ab04-4ff2-8a5f-aa675f3d456c"/>
            <p:cNvSpPr/>
            <p:nvPr/>
          </p:nvSpPr>
          <p:spPr>
            <a:xfrm>
              <a:off x="660399" y="1130301"/>
              <a:ext cx="10858500" cy="586098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阐述不同用户在系统中的角色定位与核心职责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37" name="组合 36" descr="211370cb-ebb0-4b02-ade0-8066439210e1"/>
            <p:cNvGrpSpPr/>
            <p:nvPr/>
          </p:nvGrpSpPr>
          <p:grpSpPr>
            <a:xfrm>
              <a:off x="660400" y="1761003"/>
              <a:ext cx="10858500" cy="1408612"/>
              <a:chOff x="885625" y="1931699"/>
              <a:chExt cx="10858500" cy="1408612"/>
            </a:xfrm>
          </p:grpSpPr>
          <p:sp>
            <p:nvSpPr>
              <p:cNvPr id="34" name="Number1" descr="83348fe8-560a-4c96-a17c-a7fb60654846"/>
              <p:cNvSpPr/>
              <p:nvPr/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 fontScale="92500" lnSpcReduction="10000"/>
              </a:bodyPr>
              <a:lstStyle/>
              <a:p>
                <a:pPr algn="ctr"/>
                <a:r>
                  <a:rPr lang="en-US" sz="1800" b="0" i="0" u="none">
                    <a:solidFill>
                      <a:srgbClr val="0236DE"/>
                    </a:solidFill>
                    <a:latin typeface="Arial" panose="020B0604020202020204"/>
                  </a:rPr>
                  <a:t>1</a:t>
                </a:r>
                <a:endParaRPr lang="en-US" sz="1800" b="0" i="0" u="none">
                  <a:solidFill>
                    <a:srgbClr val="0236DE"/>
                  </a:solidFill>
                  <a:latin typeface="Arial" panose="020B0604020202020204"/>
                </a:endParaRPr>
              </a:p>
            </p:txBody>
          </p:sp>
          <p:sp>
            <p:nvSpPr>
              <p:cNvPr id="35" name="Bullet1" descr="6ff2e7b4-ae48-4943-b5f9-a862385423f3"/>
              <p:cNvSpPr txBox="1"/>
              <p:nvPr/>
            </p:nvSpPr>
            <p:spPr>
              <a:xfrm>
                <a:off x="1383527" y="1931699"/>
                <a:ext cx="103605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管理员：系统总控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6" name="Text1" descr="18b9a8b7-78f4-49ea-b031-0d75da372ff9"/>
              <p:cNvSpPr txBox="1"/>
              <p:nvPr/>
            </p:nvSpPr>
            <p:spPr>
              <a:xfrm>
                <a:off x="1383527" y="2404360"/>
                <a:ext cx="103605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作为系统“总控”，拥有最高权限，负责所有数据的管理、统计与用户权限分配，是系统的运维核心。</a:t>
                </a:r>
                <a:endParaRPr lang="en-US" sz="12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2" name="组合 1" descr="64f83a74-a450-4820-97c8-13ad2f3d976a"/>
            <p:cNvGrpSpPr/>
            <p:nvPr/>
          </p:nvGrpSpPr>
          <p:grpSpPr>
            <a:xfrm>
              <a:off x="660400" y="3243246"/>
              <a:ext cx="10858500" cy="1408612"/>
              <a:chOff x="885625" y="1931699"/>
              <a:chExt cx="10858500" cy="1408612"/>
            </a:xfrm>
          </p:grpSpPr>
          <p:sp>
            <p:nvSpPr>
              <p:cNvPr id="3" name="Number2" descr="60621995-5825-4fd8-8e1c-2c534872ef31"/>
              <p:cNvSpPr/>
              <p:nvPr/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 fontScale="92500" lnSpcReduction="10000"/>
              </a:bodyPr>
              <a:lstStyle/>
              <a:p>
                <a:pPr algn="ctr"/>
                <a:r>
                  <a:rPr lang="en-US" sz="1800" b="0" i="0" u="none">
                    <a:solidFill>
                      <a:srgbClr val="0236DE"/>
                    </a:solidFill>
                    <a:latin typeface="Arial" panose="020B0604020202020204"/>
                  </a:rPr>
                  <a:t>2</a:t>
                </a:r>
                <a:endParaRPr lang="en-US" sz="1800" b="0" i="0" u="none">
                  <a:solidFill>
                    <a:srgbClr val="0236DE"/>
                  </a:solidFill>
                  <a:latin typeface="Arial" panose="020B0604020202020204"/>
                </a:endParaRPr>
              </a:p>
            </p:txBody>
          </p:sp>
          <p:sp>
            <p:nvSpPr>
              <p:cNvPr id="4" name="Bullet2" descr="0123b2c1-3a64-4e66-82e3-614aee91cc1f"/>
              <p:cNvSpPr txBox="1"/>
              <p:nvPr/>
            </p:nvSpPr>
            <p:spPr>
              <a:xfrm>
                <a:off x="1383527" y="1931699"/>
                <a:ext cx="103605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教师：教学执行者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" name="Text2" descr="917e7a28-91ba-4b88-85a2-3a16b1def3f3"/>
              <p:cNvSpPr txBox="1"/>
              <p:nvPr/>
            </p:nvSpPr>
            <p:spPr>
              <a:xfrm>
                <a:off x="1383527" y="2404360"/>
                <a:ext cx="103605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作为教学“执行者”，负责管理个人主讲的课程、查看选课学生名单、并为选课学生录入或修改考试成绩。</a:t>
                </a:r>
                <a:endParaRPr lang="en-US" sz="12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" name="组合 5" descr="f7622804-9359-4a7b-9285-c47e98a3a50d"/>
            <p:cNvGrpSpPr/>
            <p:nvPr/>
          </p:nvGrpSpPr>
          <p:grpSpPr>
            <a:xfrm>
              <a:off x="660400" y="4725488"/>
              <a:ext cx="10858500" cy="1408612"/>
              <a:chOff x="885625" y="1931699"/>
              <a:chExt cx="10858500" cy="1408612"/>
            </a:xfrm>
          </p:grpSpPr>
          <p:sp>
            <p:nvSpPr>
              <p:cNvPr id="7" name="Number3" descr="cafaa2e8-c1ed-4f16-82c1-73102866461d"/>
              <p:cNvSpPr/>
              <p:nvPr/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 fontScale="92500" lnSpcReduction="10000"/>
              </a:bodyPr>
              <a:lstStyle/>
              <a:p>
                <a:pPr algn="ctr"/>
                <a:r>
                  <a:rPr lang="en-US" sz="1800" b="0" i="0" u="none">
                    <a:solidFill>
                      <a:srgbClr val="0236DE"/>
                    </a:solidFill>
                    <a:latin typeface="Arial" panose="020B0604020202020204"/>
                  </a:rPr>
                  <a:t>3</a:t>
                </a:r>
                <a:endParaRPr lang="en-US" sz="1800" b="0" i="0" u="none">
                  <a:solidFill>
                    <a:srgbClr val="0236DE"/>
                  </a:solidFill>
                  <a:latin typeface="Arial" panose="020B0604020202020204"/>
                </a:endParaRPr>
              </a:p>
            </p:txBody>
          </p:sp>
          <p:sp>
            <p:nvSpPr>
              <p:cNvPr id="11" name="Bullet3" descr="278b1d9e-0b59-4579-a6f5-e7077e538633"/>
              <p:cNvSpPr txBox="1"/>
              <p:nvPr/>
            </p:nvSpPr>
            <p:spPr>
              <a:xfrm>
                <a:off x="1383527" y="1931699"/>
                <a:ext cx="103605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学生：系统使用者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2" name="Text3" descr="d3129ac9-2476-4a44-9d8d-b370cbd34701"/>
              <p:cNvSpPr txBox="1"/>
              <p:nvPr/>
            </p:nvSpPr>
            <p:spPr>
              <a:xfrm>
                <a:off x="1383527" y="2404360"/>
                <a:ext cx="103605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作为系统“使用者”，核心功能是进行在线选课与退课操作，并可查询个人课表、成绩及课程详情。</a:t>
                </a:r>
                <a:endParaRPr lang="en-US" sz="12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9" name="标题 8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多角色协同架构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2492b476-3c7a-43d2-b0d1-7a7b24a757f3.source.4.zh-Hans.pptx" descr="ad9e7ddd-d120-46cf-9f65-27c479ea705e"/>
          <p:cNvGrpSpPr/>
          <p:nvPr/>
        </p:nvGrpSpPr>
        <p:grpSpPr>
          <a:xfrm>
            <a:off x="660400" y="1130301"/>
            <a:ext cx="10858500" cy="4732619"/>
            <a:chOff x="660400" y="1130301"/>
            <a:chExt cx="10858500" cy="4732619"/>
          </a:xfrm>
        </p:grpSpPr>
        <p:grpSp>
          <p:nvGrpSpPr>
            <p:cNvPr id="17" name="组合 16" descr="83aec85b-77e6-4e4c-a821-5191553134db"/>
            <p:cNvGrpSpPr/>
            <p:nvPr/>
          </p:nvGrpSpPr>
          <p:grpSpPr>
            <a:xfrm>
              <a:off x="1075765" y="1983444"/>
              <a:ext cx="9993853" cy="3879476"/>
              <a:chOff x="1075765" y="1983444"/>
              <a:chExt cx="9993853" cy="3879476"/>
            </a:xfrm>
          </p:grpSpPr>
          <p:grpSp>
            <p:nvGrpSpPr>
              <p:cNvPr id="43" name="组合 42" descr="069c3dd1-b762-47ea-ab6c-7d83f6af774a"/>
              <p:cNvGrpSpPr/>
              <p:nvPr/>
            </p:nvGrpSpPr>
            <p:grpSpPr>
              <a:xfrm>
                <a:off x="1075765" y="1983444"/>
                <a:ext cx="2151529" cy="3879476"/>
                <a:chOff x="968188" y="1692986"/>
                <a:chExt cx="2151529" cy="3879476"/>
              </a:xfrm>
            </p:grpSpPr>
            <p:sp>
              <p:nvSpPr>
                <p:cNvPr id="18" name="矩形: 圆角 17" descr="51988197-e142-421d-be93-b390841c453f"/>
                <p:cNvSpPr/>
                <p:nvPr/>
              </p:nvSpPr>
              <p:spPr>
                <a:xfrm>
                  <a:off x="968188" y="1692986"/>
                  <a:ext cx="2151529" cy="3879476"/>
                </a:xfrm>
                <a:prstGeom prst="roundRect">
                  <a:avLst>
                    <a:gd name="adj" fmla="val 6565"/>
                  </a:avLst>
                </a:prstGeom>
                <a:solidFill>
                  <a:schemeClr val="tx2">
                    <a:alpha val="10000"/>
                  </a:schemeClr>
                </a:solidFill>
                <a:ln w="19050" cap="rnd">
                  <a:noFill/>
                  <a:prstDash val="solid"/>
                  <a:round/>
                </a:ln>
                <a:effectLst>
                  <a:outerShdw blurRad="406400" dist="101600" algn="l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/>
                </a:p>
              </p:txBody>
            </p:sp>
            <p:sp>
              <p:nvSpPr>
                <p:cNvPr id="19" name="Text1" descr="7a8e7879-1c45-4726-b756-d757afb7ead9"/>
                <p:cNvSpPr txBox="1"/>
                <p:nvPr/>
              </p:nvSpPr>
              <p:spPr>
                <a:xfrm>
                  <a:off x="1086523" y="2829288"/>
                  <a:ext cx="1995948" cy="21421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自动化流程与数据集中管理，极大减少了人工操作与数据核对工作量，显著提升选课与成绩管理效率。</a:t>
                  </a:r>
                  <a:endPara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0" name="Bullet1" descr="3a71124f-3998-4f11-9f37-53b9d3c44984"/>
                <p:cNvSpPr txBox="1"/>
                <p:nvPr/>
              </p:nvSpPr>
              <p:spPr>
                <a:xfrm>
                  <a:off x="1243566" y="2397200"/>
                  <a:ext cx="1838905" cy="276999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 anchorCtr="0">
                  <a:normAutofit fontScale="85000" lnSpcReduction="20000"/>
                </a:bodyPr>
                <a:lstStyle>
                  <a:defPPr>
                    <a:defRPr lang="zh-CN"/>
                  </a:defPPr>
                  <a:lvl1pPr>
                    <a:defRPr sz="2000" b="1" i="0">
                      <a:gradFill>
                        <a:gsLst>
                          <a:gs pos="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60000">
                            <a:schemeClr val="accent1"/>
                          </a:gs>
                        </a:gsLst>
                        <a:lin ang="2700000" scaled="0"/>
                      </a:gradFill>
                      <a:effectLst>
                        <a:outerShdw blurRad="76200" dist="50800" dir="5400000" algn="ctr" rotWithShape="0">
                          <a:schemeClr val="accent1">
                            <a:alpha val="20000"/>
                          </a:schemeClr>
                        </a:outerShdw>
                      </a:effectLst>
                    </a:defRPr>
                  </a:lvl1pPr>
                </a:lstStyle>
                <a:p>
                  <a:pPr algn="l"/>
                  <a:r>
                    <a: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提升管理效率</a:t>
                  </a:r>
                  <a:endPara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cxnSp>
              <p:nvCxnSpPr>
                <p:cNvPr id="22" name="直接连接符 21" descr="dd485c58-aa97-440c-8502-8473be16715a"/>
                <p:cNvCxnSpPr/>
                <p:nvPr/>
              </p:nvCxnSpPr>
              <p:spPr>
                <a:xfrm>
                  <a:off x="1200534" y="2397200"/>
                  <a:ext cx="0" cy="30777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Number1" descr="a39cfce0-9516-49df-8e1a-7dab4e4c0324"/>
                <p:cNvSpPr txBox="1"/>
                <p:nvPr/>
              </p:nvSpPr>
              <p:spPr>
                <a:xfrm>
                  <a:off x="1093695" y="5002229"/>
                  <a:ext cx="491852" cy="368973"/>
                </a:xfrm>
                <a:prstGeom prst="rect">
                  <a:avLst/>
                </a:prstGeom>
                <a:noFill/>
              </p:spPr>
              <p:txBody>
                <a:bodyPr wrap="square" rtlCol="0" anchorCtr="0">
                  <a:no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585858"/>
                      </a:solidFill>
                      <a:latin typeface="Arial" panose="020B0604020202020204"/>
                    </a:rPr>
                    <a:t>01.</a:t>
                  </a:r>
                  <a:endParaRPr lang="en-US" sz="1200" b="0" i="0" u="none">
                    <a:solidFill>
                      <a:srgbClr val="585858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44" name="组合 43" descr="3ca0e017-0046-449a-93bc-6b7bf2b5362e"/>
              <p:cNvGrpSpPr/>
              <p:nvPr/>
            </p:nvGrpSpPr>
            <p:grpSpPr>
              <a:xfrm>
                <a:off x="3689873" y="1983444"/>
                <a:ext cx="2151529" cy="3879476"/>
                <a:chOff x="3582296" y="1692986"/>
                <a:chExt cx="2151529" cy="3879476"/>
              </a:xfrm>
            </p:grpSpPr>
            <p:sp>
              <p:nvSpPr>
                <p:cNvPr id="26" name="矩形: 圆角 25" descr="4db4f7ff-0fb0-486d-8b5f-3ce7bca7e0b7"/>
                <p:cNvSpPr/>
                <p:nvPr/>
              </p:nvSpPr>
              <p:spPr>
                <a:xfrm>
                  <a:off x="3582296" y="1692986"/>
                  <a:ext cx="2151529" cy="3879476"/>
                </a:xfrm>
                <a:prstGeom prst="roundRect">
                  <a:avLst>
                    <a:gd name="adj" fmla="val 6565"/>
                  </a:avLst>
                </a:prstGeom>
                <a:solidFill>
                  <a:schemeClr val="tx2">
                    <a:alpha val="10000"/>
                  </a:schemeClr>
                </a:solidFill>
                <a:ln w="19050" cap="rnd">
                  <a:noFill/>
                  <a:prstDash val="solid"/>
                  <a:round/>
                </a:ln>
                <a:effectLst>
                  <a:outerShdw blurRad="406400" dist="101600" algn="l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/>
                </a:p>
              </p:txBody>
            </p:sp>
            <p:sp>
              <p:nvSpPr>
                <p:cNvPr id="27" name="Text2" descr="496e856f-da2a-4f07-a8b4-8c8dbe124881"/>
                <p:cNvSpPr txBox="1"/>
                <p:nvPr/>
              </p:nvSpPr>
              <p:spPr>
                <a:xfrm>
                  <a:off x="3700631" y="2829288"/>
                  <a:ext cx="1995948" cy="21421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线上操作与数据校验机制有效避免了人为错误和信息遗漏，确保了选课数据与成绩录入的准确性。</a:t>
                  </a:r>
                  <a:endPara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8" name="Bullet2" descr="7cf83238-9499-4aba-b5a3-5a28b42b8fc1"/>
                <p:cNvSpPr txBox="1"/>
                <p:nvPr/>
              </p:nvSpPr>
              <p:spPr>
                <a:xfrm>
                  <a:off x="3857674" y="2397200"/>
                  <a:ext cx="1838905" cy="276999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 anchorCtr="0">
                  <a:normAutofit fontScale="85000" lnSpcReduction="20000"/>
                </a:bodyPr>
                <a:lstStyle>
                  <a:defPPr>
                    <a:defRPr lang="zh-CN"/>
                  </a:defPPr>
                  <a:lvl1pPr>
                    <a:defRPr sz="2000" b="1" i="0">
                      <a:gradFill>
                        <a:gsLst>
                          <a:gs pos="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60000">
                            <a:schemeClr val="accent1"/>
                          </a:gs>
                        </a:gsLst>
                        <a:lin ang="2700000" scaled="0"/>
                      </a:gradFill>
                      <a:effectLst>
                        <a:outerShdw blurRad="76200" dist="50800" dir="5400000" algn="ctr" rotWithShape="0">
                          <a:schemeClr val="accent1">
                            <a:alpha val="20000"/>
                          </a:schemeClr>
                        </a:outerShdw>
                      </a:effectLst>
                    </a:defRPr>
                  </a:lvl1pPr>
                </a:lstStyle>
                <a:p>
                  <a:pPr algn="l"/>
                  <a:r>
                    <a: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保障数据准确</a:t>
                  </a:r>
                  <a:endPara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cxnSp>
              <p:nvCxnSpPr>
                <p:cNvPr id="29" name="直接连接符 28" descr="4b352744-4206-4ea0-8681-f1677e29fc01"/>
                <p:cNvCxnSpPr/>
                <p:nvPr/>
              </p:nvCxnSpPr>
              <p:spPr>
                <a:xfrm>
                  <a:off x="3814642" y="2397200"/>
                  <a:ext cx="0" cy="30777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Number2" descr="3ad92ea3-9415-4420-88a3-6f2c435536c8"/>
                <p:cNvSpPr txBox="1"/>
                <p:nvPr/>
              </p:nvSpPr>
              <p:spPr>
                <a:xfrm>
                  <a:off x="3814641" y="5002229"/>
                  <a:ext cx="565961" cy="368973"/>
                </a:xfrm>
                <a:prstGeom prst="rect">
                  <a:avLst/>
                </a:prstGeom>
                <a:noFill/>
              </p:spPr>
              <p:txBody>
                <a:bodyPr wrap="square" rtlCol="0" anchorCtr="0">
                  <a:no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5DA6FF"/>
                      </a:solidFill>
                      <a:latin typeface="Arial" panose="020B0604020202020204"/>
                    </a:rPr>
                    <a:t>02</a:t>
                  </a:r>
                  <a:endParaRPr lang="en-US" sz="1200" b="0" i="0" u="none">
                    <a:solidFill>
                      <a:srgbClr val="5DA6FF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45" name="组合 44" descr="a9c50633-d505-4666-8b09-2b6c233979fd"/>
              <p:cNvGrpSpPr/>
              <p:nvPr/>
            </p:nvGrpSpPr>
            <p:grpSpPr>
              <a:xfrm>
                <a:off x="6303981" y="1983444"/>
                <a:ext cx="2151529" cy="3879476"/>
                <a:chOff x="6196404" y="1692986"/>
                <a:chExt cx="2151529" cy="3879476"/>
              </a:xfrm>
            </p:grpSpPr>
            <p:sp>
              <p:nvSpPr>
                <p:cNvPr id="32" name="矩形: 圆角 31" descr="8beab6c1-b5ad-41bd-a846-728b352abc6b"/>
                <p:cNvSpPr/>
                <p:nvPr/>
              </p:nvSpPr>
              <p:spPr>
                <a:xfrm>
                  <a:off x="6196404" y="1692986"/>
                  <a:ext cx="2151529" cy="3879476"/>
                </a:xfrm>
                <a:prstGeom prst="roundRect">
                  <a:avLst>
                    <a:gd name="adj" fmla="val 6565"/>
                  </a:avLst>
                </a:prstGeom>
                <a:solidFill>
                  <a:schemeClr val="tx2">
                    <a:alpha val="10000"/>
                  </a:schemeClr>
                </a:solidFill>
                <a:ln w="19050" cap="rnd">
                  <a:noFill/>
                  <a:prstDash val="solid"/>
                  <a:round/>
                </a:ln>
                <a:effectLst>
                  <a:outerShdw blurRad="406400" dist="101600" algn="l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/>
                </a:p>
              </p:txBody>
            </p:sp>
            <p:sp>
              <p:nvSpPr>
                <p:cNvPr id="33" name="Text3" descr="d1095733-f567-41ab-8966-af5886969981"/>
                <p:cNvSpPr txBox="1"/>
                <p:nvPr/>
              </p:nvSpPr>
              <p:spPr>
                <a:xfrm>
                  <a:off x="6314739" y="2829288"/>
                  <a:ext cx="1995948" cy="21421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精细化的角色权限划分，保证了数据安全，不同用户各司其职，避免了越权操作。</a:t>
                  </a:r>
                  <a:endPara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34" name="Bullet3" descr="8f0dc65c-7e57-48d0-8505-5bc4128cf650"/>
                <p:cNvSpPr txBox="1"/>
                <p:nvPr/>
              </p:nvSpPr>
              <p:spPr>
                <a:xfrm>
                  <a:off x="6471782" y="2397200"/>
                  <a:ext cx="1838905" cy="276999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 anchorCtr="0">
                  <a:normAutofit fontScale="85000" lnSpcReduction="20000"/>
                </a:bodyPr>
                <a:lstStyle>
                  <a:defPPr>
                    <a:defRPr lang="zh-CN"/>
                  </a:defPPr>
                  <a:lvl1pPr>
                    <a:defRPr sz="2000" b="1" i="0">
                      <a:gradFill>
                        <a:gsLst>
                          <a:gs pos="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60000">
                            <a:schemeClr val="accent1"/>
                          </a:gs>
                        </a:gsLst>
                        <a:lin ang="2700000" scaled="0"/>
                      </a:gradFill>
                      <a:effectLst>
                        <a:outerShdw blurRad="76200" dist="50800" dir="5400000" algn="ctr" rotWithShape="0">
                          <a:schemeClr val="accent1">
                            <a:alpha val="20000"/>
                          </a:schemeClr>
                        </a:outerShdw>
                      </a:effectLst>
                    </a:defRPr>
                  </a:lvl1pPr>
                </a:lstStyle>
                <a:p>
                  <a:pPr algn="l"/>
                  <a:r>
                    <a: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强化权限管控</a:t>
                  </a:r>
                  <a:endPara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cxnSp>
              <p:nvCxnSpPr>
                <p:cNvPr id="35" name="直接连接符 34" descr="421dc2b9-7f9e-4e65-ae81-620033a2a0a5"/>
                <p:cNvCxnSpPr/>
                <p:nvPr/>
              </p:nvCxnSpPr>
              <p:spPr>
                <a:xfrm>
                  <a:off x="6428750" y="2397200"/>
                  <a:ext cx="0" cy="30777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Number3" descr="eae7f437-7568-4d7c-b16f-7bf27225a78b"/>
                <p:cNvSpPr txBox="1"/>
                <p:nvPr/>
              </p:nvSpPr>
              <p:spPr>
                <a:xfrm>
                  <a:off x="6428750" y="5002229"/>
                  <a:ext cx="522046" cy="368973"/>
                </a:xfrm>
                <a:prstGeom prst="rect">
                  <a:avLst/>
                </a:prstGeom>
                <a:noFill/>
              </p:spPr>
              <p:txBody>
                <a:bodyPr wrap="square" rtlCol="0" anchorCtr="0">
                  <a:no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A8A8A8"/>
                      </a:solidFill>
                      <a:latin typeface="Arial" panose="020B0604020202020204"/>
                    </a:rPr>
                    <a:t>03</a:t>
                  </a:r>
                  <a:endParaRPr lang="en-US" sz="1200" b="0" i="0" u="none">
                    <a:solidFill>
                      <a:srgbClr val="A8A8A8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46" name="组合 45" descr="68315f26-9c3d-44b9-8a8d-ff28196ac821"/>
              <p:cNvGrpSpPr/>
              <p:nvPr/>
            </p:nvGrpSpPr>
            <p:grpSpPr>
              <a:xfrm>
                <a:off x="8918089" y="1983444"/>
                <a:ext cx="2151529" cy="3879476"/>
                <a:chOff x="8810512" y="1692986"/>
                <a:chExt cx="2151529" cy="3879476"/>
              </a:xfrm>
            </p:grpSpPr>
            <p:sp>
              <p:nvSpPr>
                <p:cNvPr id="38" name="矩形: 圆角 37" descr="b2d92fa1-ba3e-4e43-8482-15ac6a23286d"/>
                <p:cNvSpPr/>
                <p:nvPr/>
              </p:nvSpPr>
              <p:spPr>
                <a:xfrm>
                  <a:off x="8810512" y="1692986"/>
                  <a:ext cx="2151529" cy="3879476"/>
                </a:xfrm>
                <a:prstGeom prst="roundRect">
                  <a:avLst>
                    <a:gd name="adj" fmla="val 6565"/>
                  </a:avLst>
                </a:prstGeom>
                <a:solidFill>
                  <a:schemeClr val="tx2">
                    <a:alpha val="10000"/>
                  </a:schemeClr>
                </a:solidFill>
                <a:ln w="19050" cap="rnd">
                  <a:noFill/>
                  <a:prstDash val="solid"/>
                  <a:round/>
                </a:ln>
                <a:effectLst>
                  <a:outerShdw blurRad="406400" dist="101600" algn="l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/>
                </a:p>
              </p:txBody>
            </p:sp>
            <p:sp>
              <p:nvSpPr>
                <p:cNvPr id="39" name="Text4" descr="778af6dc-3d7f-41f5-851a-37507e039031"/>
                <p:cNvSpPr txBox="1"/>
                <p:nvPr/>
              </p:nvSpPr>
              <p:spPr>
                <a:xfrm>
                  <a:off x="8928847" y="2829288"/>
                  <a:ext cx="1995948" cy="21421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提供多维度的数据统计与报表功能，为教学安排、课程评估等管理决策提供了可靠的数据支持。</a:t>
                  </a:r>
                  <a:endPara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0" name="Bullet4" descr="b48d1d24-d11e-4c07-940f-362047a8f192"/>
                <p:cNvSpPr txBox="1"/>
                <p:nvPr/>
              </p:nvSpPr>
              <p:spPr>
                <a:xfrm>
                  <a:off x="9085890" y="2397200"/>
                  <a:ext cx="1838905" cy="276999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 anchorCtr="0">
                  <a:normAutofit fontScale="85000" lnSpcReduction="20000"/>
                </a:bodyPr>
                <a:lstStyle>
                  <a:defPPr>
                    <a:defRPr lang="zh-CN"/>
                  </a:defPPr>
                  <a:lvl1pPr>
                    <a:defRPr sz="2000" b="1" i="0">
                      <a:gradFill>
                        <a:gsLst>
                          <a:gs pos="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60000">
                            <a:schemeClr val="accent1"/>
                          </a:gs>
                        </a:gsLst>
                        <a:lin ang="2700000" scaled="0"/>
                      </a:gradFill>
                      <a:effectLst>
                        <a:outerShdw blurRad="76200" dist="50800" dir="5400000" algn="ctr" rotWithShape="0">
                          <a:schemeClr val="accent1">
                            <a:alpha val="20000"/>
                          </a:schemeClr>
                        </a:outerShdw>
                      </a:effectLst>
                    </a:defRPr>
                  </a:lvl1pPr>
                </a:lstStyle>
                <a:p>
                  <a:pPr algn="l"/>
                  <a:r>
                    <a: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优化决策支持</a:t>
                  </a:r>
                  <a:endPara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cxnSp>
              <p:nvCxnSpPr>
                <p:cNvPr id="41" name="直接连接符 40" descr="eabca5d2-af1d-4cd4-b086-6c19d99a1b6f"/>
                <p:cNvCxnSpPr/>
                <p:nvPr/>
              </p:nvCxnSpPr>
              <p:spPr>
                <a:xfrm>
                  <a:off x="9042858" y="2397200"/>
                  <a:ext cx="0" cy="30777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Number4" descr="8303e16d-24a5-4494-bbd2-31f2c81375cb"/>
                <p:cNvSpPr txBox="1"/>
                <p:nvPr/>
              </p:nvSpPr>
              <p:spPr>
                <a:xfrm>
                  <a:off x="9042858" y="5002229"/>
                  <a:ext cx="478130" cy="368973"/>
                </a:xfrm>
                <a:prstGeom prst="rect">
                  <a:avLst/>
                </a:prstGeom>
                <a:noFill/>
              </p:spPr>
              <p:txBody>
                <a:bodyPr wrap="square" rtlCol="0" anchorCtr="0">
                  <a:no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757575"/>
                      </a:solidFill>
                      <a:latin typeface="Arial" panose="020B0604020202020204"/>
                    </a:rPr>
                    <a:t>04</a:t>
                  </a:r>
                  <a:endParaRPr lang="en-US" sz="1200" b="0" i="0" u="none">
                    <a:solidFill>
                      <a:srgbClr val="757575"/>
                    </a:solidFill>
                    <a:latin typeface="Arial" panose="020B0604020202020204"/>
                  </a:endParaRPr>
                </a:p>
              </p:txBody>
            </p:sp>
          </p:grpSp>
        </p:grpSp>
        <p:sp>
          <p:nvSpPr>
            <p:cNvPr id="2" name="Title" descr="532aac40-c707-4d40-a6bf-de478dac4fad"/>
            <p:cNvSpPr txBox="1"/>
            <p:nvPr/>
          </p:nvSpPr>
          <p:spPr>
            <a:xfrm>
              <a:off x="660400" y="1130301"/>
              <a:ext cx="10858500" cy="628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总结系统为选课管理带来的核心价值与优势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</p:grpSp>
      <p:sp>
        <p:nvSpPr>
          <p:cNvPr id="4" name="标题 3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系统核心价值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4ba0520-b3a6-4c53-82c4-5f3fcfccff0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 panose="020B0503020204020204" charset="-122"/>
              </a:rPr>
              <a:t>核心功能全景</a:t>
            </a:r>
            <a:endParaRPr lang="en-US" sz="36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80b90c15-9122-40e0-9afe-3acbf0504dba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 panose="020B0503020204020204" charset="-122"/>
              </a:rPr>
              <a:t>详细展示系统为管理员、教师和学生三个核心角色提供的各项功能，构成系统的能力矩阵。</a:t>
            </a:r>
            <a:endParaRPr lang="en-US" sz="16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ab4a5f0d-9261-4d4d-8e9b-1727bb5e4053.source.3.zh-Hans.pptx" descr="c42c6aee-5920-40d6-8dd2-f0730d29414e"/>
          <p:cNvGrpSpPr/>
          <p:nvPr/>
        </p:nvGrpSpPr>
        <p:grpSpPr>
          <a:xfrm>
            <a:off x="660399" y="1304453"/>
            <a:ext cx="10858501" cy="5241014"/>
            <a:chOff x="660399" y="1304453"/>
            <a:chExt cx="10858501" cy="5241014"/>
          </a:xfrm>
        </p:grpSpPr>
        <p:sp>
          <p:nvSpPr>
            <p:cNvPr id="9" name="Title" descr="601538e7-85bd-4540-a560-caabe0db9dd5"/>
            <p:cNvSpPr txBox="1"/>
            <p:nvPr/>
          </p:nvSpPr>
          <p:spPr>
            <a:xfrm>
              <a:off x="660399" y="1304453"/>
              <a:ext cx="108585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236DE"/>
                  </a:solidFill>
                  <a:ea typeface="微软雅黑" panose="020B0503020204020204" charset="-122"/>
                </a:rPr>
                <a:t>介绍管理员拥有的全方位数据管理与系统运维能力</a:t>
              </a:r>
              <a:endParaRPr lang="en-US" sz="2400" b="1" i="0" u="none">
                <a:solidFill>
                  <a:srgbClr val="0236DE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31" name="组合 30" descr="db36c600-1587-4ade-a7b0-ca6b6dbc6643"/>
            <p:cNvGrpSpPr/>
            <p:nvPr/>
          </p:nvGrpSpPr>
          <p:grpSpPr>
            <a:xfrm>
              <a:off x="660400" y="3246702"/>
              <a:ext cx="10858500" cy="3298765"/>
              <a:chOff x="660400" y="3246702"/>
              <a:chExt cx="10858500" cy="3298765"/>
            </a:xfrm>
          </p:grpSpPr>
          <p:grpSp>
            <p:nvGrpSpPr>
              <p:cNvPr id="11" name="组合 10" descr="e5d23942-bff3-482e-841a-557577f31285"/>
              <p:cNvGrpSpPr/>
              <p:nvPr/>
            </p:nvGrpSpPr>
            <p:grpSpPr>
              <a:xfrm>
                <a:off x="660400" y="3771255"/>
                <a:ext cx="3217289" cy="2774212"/>
                <a:chOff x="747483" y="3771255"/>
                <a:chExt cx="2387602" cy="2774212"/>
              </a:xfrm>
            </p:grpSpPr>
            <p:grpSp>
              <p:nvGrpSpPr>
                <p:cNvPr id="27" name="组合 26" descr="11391d2f-dfe0-42a1-985e-c817b50ef649"/>
                <p:cNvGrpSpPr/>
                <p:nvPr/>
              </p:nvGrpSpPr>
              <p:grpSpPr>
                <a:xfrm>
                  <a:off x="747484" y="4734211"/>
                  <a:ext cx="2387601" cy="1811256"/>
                  <a:chOff x="660400" y="4318741"/>
                  <a:chExt cx="2387601" cy="1811256"/>
                </a:xfrm>
              </p:grpSpPr>
              <p:sp>
                <p:nvSpPr>
                  <p:cNvPr id="29" name="Bullet1" descr="257ac567-23f3-417d-80fc-ab06c4fbf562"/>
                  <p:cNvSpPr/>
                  <p:nvPr/>
                </p:nvSpPr>
                <p:spPr>
                  <a:xfrm>
                    <a:off x="660400" y="4318741"/>
                    <a:ext cx="2387601" cy="4951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108000" tIns="108000" rIns="108000" bIns="108000" rtlCol="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/>
                    <a:r>
                      <a:rPr lang="en-US" sz="1800" b="1" i="0" u="none">
                        <a:solidFill>
                          <a:srgbClr val="000000"/>
                        </a:solidFill>
                        <a:ea typeface="微软雅黑" panose="020B0503020204020204" charset="-122"/>
                      </a:rPr>
                      <a:t>全方位信息管理</a:t>
                    </a:r>
                    <a:endPara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30" name="Text1" descr="e4627ded-f006-463f-885d-9586ab5e27e1"/>
                  <p:cNvSpPr/>
                  <p:nvPr/>
                </p:nvSpPr>
                <p:spPr>
                  <a:xfrm>
                    <a:off x="660401" y="4736501"/>
                    <a:ext cx="2387600" cy="13934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108000" tIns="108000" rIns="108000" bIns="108000" rtlCol="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 panose="020B0503020204020204" charset="-122"/>
                      </a:rPr>
                      <a:t>提供对学生、教师、课程、院系、选课记录等所有核心数据的增删改查(CRUD)操作，支持数据的精细化维护。</a:t>
                    </a:r>
                    <a:endPara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  <p:sp>
              <p:nvSpPr>
                <p:cNvPr id="28" name="Number1" descr="4072acaa-fba3-452e-a952-504dc8b56f3b"/>
                <p:cNvSpPr/>
                <p:nvPr/>
              </p:nvSpPr>
              <p:spPr>
                <a:xfrm>
                  <a:off x="747483" y="3771255"/>
                  <a:ext cx="2387601" cy="104910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l"/>
                  <a:r>
                    <a:rPr lang="en-US" sz="5400" b="1" i="0" u="none">
                      <a:solidFill>
                        <a:srgbClr val="778495"/>
                      </a:solidFill>
                      <a:latin typeface="Arial" panose="020B0604020202020204"/>
                    </a:rPr>
                    <a:t>01</a:t>
                  </a:r>
                  <a:endParaRPr lang="en-US" sz="5400" b="1" i="0" u="none">
                    <a:solidFill>
                      <a:srgbClr val="778495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12" name="组合 11" descr="5f3bf059-d765-4302-9aef-db1e13628eaa"/>
              <p:cNvGrpSpPr/>
              <p:nvPr/>
            </p:nvGrpSpPr>
            <p:grpSpPr>
              <a:xfrm>
                <a:off x="4481007" y="3246702"/>
                <a:ext cx="3217287" cy="2731734"/>
                <a:chOff x="3513085" y="3246702"/>
                <a:chExt cx="2387601" cy="2731734"/>
              </a:xfrm>
            </p:grpSpPr>
            <p:grpSp>
              <p:nvGrpSpPr>
                <p:cNvPr id="23" name="组合 22" descr="58c827b0-a1a4-4da7-af3b-b533bb51eee2"/>
                <p:cNvGrpSpPr/>
                <p:nvPr/>
              </p:nvGrpSpPr>
              <p:grpSpPr>
                <a:xfrm>
                  <a:off x="3513085" y="4167180"/>
                  <a:ext cx="2387601" cy="1811256"/>
                  <a:chOff x="660400" y="4318741"/>
                  <a:chExt cx="2387601" cy="1811256"/>
                </a:xfrm>
              </p:grpSpPr>
              <p:sp>
                <p:nvSpPr>
                  <p:cNvPr id="25" name="Bullet2" descr="e51ce8c5-cff0-4ecf-8597-93dc68487813"/>
                  <p:cNvSpPr/>
                  <p:nvPr/>
                </p:nvSpPr>
                <p:spPr>
                  <a:xfrm>
                    <a:off x="660400" y="4318741"/>
                    <a:ext cx="2387601" cy="4951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108000" tIns="108000" rIns="108000" bIns="108000" rtlCol="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/>
                    <a:r>
                      <a:rPr lang="en-US" sz="1800" b="1" i="0" u="none">
                        <a:solidFill>
                          <a:srgbClr val="0236DE"/>
                        </a:solidFill>
                        <a:ea typeface="微软雅黑" panose="020B0503020204020204" charset="-122"/>
                      </a:rPr>
                      <a:t>综合数据报表</a:t>
                    </a:r>
                    <a:endParaRPr lang="en-US" sz="1800" b="1" i="0" u="none">
                      <a:solidFill>
                        <a:srgbClr val="0236DE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26" name="Text2" descr="793e5bf4-3227-4178-88a2-c24470ed3129"/>
                  <p:cNvSpPr/>
                  <p:nvPr/>
                </p:nvSpPr>
                <p:spPr>
                  <a:xfrm>
                    <a:off x="660401" y="4736501"/>
                    <a:ext cx="2387600" cy="13934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108000" tIns="108000" rIns="108000" bIns="108000" rtlCol="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 panose="020B0503020204020204" charset="-122"/>
                      </a:rPr>
                      <a:t>能够生成学生/教师信息表、课程清单、选课统计报表等各类报表，并支持导出为Excel等格式，便于存档与分析。</a:t>
                    </a:r>
                    <a:endPara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  <p:sp>
              <p:nvSpPr>
                <p:cNvPr id="24" name="Number2" descr="9ab53405-3992-41a2-8fbd-0e5d71703d7a"/>
                <p:cNvSpPr/>
                <p:nvPr/>
              </p:nvSpPr>
              <p:spPr>
                <a:xfrm>
                  <a:off x="3513085" y="3246702"/>
                  <a:ext cx="2387601" cy="104910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l"/>
                  <a:r>
                    <a:rPr lang="en-US" sz="5400" b="1" i="0" u="none">
                      <a:solidFill>
                        <a:srgbClr val="0236DE"/>
                      </a:solidFill>
                      <a:latin typeface="Arial" panose="020B0604020202020204"/>
                    </a:rPr>
                    <a:t>02</a:t>
                  </a:r>
                  <a:endParaRPr lang="en-US" sz="5400" b="1" i="0" u="none">
                    <a:solidFill>
                      <a:srgbClr val="0236DE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13" name="组合 12" descr="45fb8adc-8143-49cf-8e50-6bdf2adbdb2e"/>
              <p:cNvGrpSpPr/>
              <p:nvPr/>
            </p:nvGrpSpPr>
            <p:grpSpPr>
              <a:xfrm>
                <a:off x="8301611" y="3771255"/>
                <a:ext cx="3217289" cy="2774212"/>
                <a:chOff x="747483" y="3771255"/>
                <a:chExt cx="2387602" cy="2774212"/>
              </a:xfrm>
            </p:grpSpPr>
            <p:grpSp>
              <p:nvGrpSpPr>
                <p:cNvPr id="19" name="组合 18" descr="a8d020dc-f13d-4492-a3c1-7e64ed3072e9"/>
                <p:cNvGrpSpPr/>
                <p:nvPr/>
              </p:nvGrpSpPr>
              <p:grpSpPr>
                <a:xfrm>
                  <a:off x="747484" y="4734211"/>
                  <a:ext cx="2387601" cy="1811256"/>
                  <a:chOff x="660400" y="4318741"/>
                  <a:chExt cx="2387601" cy="1811256"/>
                </a:xfrm>
              </p:grpSpPr>
              <p:sp>
                <p:nvSpPr>
                  <p:cNvPr id="21" name="Bullet3" descr="cf43c03d-9bfb-42b7-b96d-ed8df0d4f520"/>
                  <p:cNvSpPr/>
                  <p:nvPr/>
                </p:nvSpPr>
                <p:spPr>
                  <a:xfrm>
                    <a:off x="660400" y="4318741"/>
                    <a:ext cx="2387601" cy="4951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108000" tIns="108000" rIns="108000" bIns="108000" rtlCol="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/>
                    <a:r>
                      <a:rPr lang="en-US" sz="1800" b="1" i="0" u="none">
                        <a:solidFill>
                          <a:srgbClr val="000000"/>
                        </a:solidFill>
                        <a:ea typeface="微软雅黑" panose="020B0503020204020204" charset="-122"/>
                      </a:rPr>
                      <a:t>用户与权限中枢</a:t>
                    </a:r>
                    <a:endPara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22" name="Text3" descr="18f2ee24-046e-4639-b4c3-ba94863e163f"/>
                  <p:cNvSpPr/>
                  <p:nvPr/>
                </p:nvSpPr>
                <p:spPr>
                  <a:xfrm>
                    <a:off x="660401" y="4736501"/>
                    <a:ext cx="2387600" cy="13934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108000" tIns="108000" rIns="108000" bIns="108000" rtlCol="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 panose="020B0503020204020204" charset="-122"/>
                      </a:rPr>
                      <a:t>负责管理所有系统用户账号，包括添加、删除、修改用户信息，并根据角色（管理员、教师、学生）分配不同的操作权限。</a:t>
                    </a:r>
                    <a:endPara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  <p:sp>
              <p:nvSpPr>
                <p:cNvPr id="20" name="Number3" descr="a7942f5b-3b13-4518-a544-571558d2d664"/>
                <p:cNvSpPr/>
                <p:nvPr/>
              </p:nvSpPr>
              <p:spPr>
                <a:xfrm>
                  <a:off x="747483" y="3771255"/>
                  <a:ext cx="2387601" cy="104910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l"/>
                  <a:r>
                    <a:rPr lang="en-US" sz="5400" b="1" i="0" u="none">
                      <a:solidFill>
                        <a:srgbClr val="778495"/>
                      </a:solidFill>
                      <a:latin typeface="Arial" panose="020B0604020202020204"/>
                    </a:rPr>
                    <a:t>03</a:t>
                  </a:r>
                  <a:endParaRPr lang="en-US" sz="5400" b="1" i="0" u="none">
                    <a:solidFill>
                      <a:srgbClr val="778495"/>
                    </a:solidFill>
                    <a:latin typeface="Arial" panose="020B0604020202020204"/>
                  </a:endParaRPr>
                </a:p>
              </p:txBody>
            </p:sp>
          </p:grpSp>
        </p:grpSp>
      </p:grpSp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管理员端核心能力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9" name="e076ea27-dd5c-4c21-8cf5-5daacfebfc89.source.3.zh-Hans.pptx" descr="54e1c8ac-08f4-497a-b88c-32d841fb22ba"/>
          <p:cNvGrpSpPr/>
          <p:nvPr/>
        </p:nvGrpSpPr>
        <p:grpSpPr>
          <a:xfrm>
            <a:off x="660399" y="0"/>
            <a:ext cx="11531602" cy="5849019"/>
            <a:chOff x="660399" y="0"/>
            <a:chExt cx="11531602" cy="5849019"/>
          </a:xfrm>
        </p:grpSpPr>
        <p:sp>
          <p:nvSpPr>
            <p:cNvPr id="1060" name="任意多边形: 形状 1059" descr="757661ca-0c51-4843-b8b6-bb9b99e546de"/>
            <p:cNvSpPr/>
            <p:nvPr/>
          </p:nvSpPr>
          <p:spPr>
            <a:xfrm>
              <a:off x="7774800" y="0"/>
              <a:ext cx="4417201" cy="4220332"/>
            </a:xfrm>
            <a:custGeom>
              <a:avLst/>
              <a:gdLst>
                <a:gd name="connsiteX0" fmla="*/ 937156 w 4417201"/>
                <a:gd name="connsiteY0" fmla="*/ 0 h 4220332"/>
                <a:gd name="connsiteX1" fmla="*/ 3757054 w 4417201"/>
                <a:gd name="connsiteY1" fmla="*/ 0 h 4220332"/>
                <a:gd name="connsiteX2" fmla="*/ 3840082 w 4417201"/>
                <a:gd name="connsiteY2" fmla="*/ 62087 h 4220332"/>
                <a:gd name="connsiteX3" fmla="*/ 4410927 w 4417201"/>
                <a:gd name="connsiteY3" fmla="*/ 754458 h 4220332"/>
                <a:gd name="connsiteX4" fmla="*/ 4417201 w 4417201"/>
                <a:gd name="connsiteY4" fmla="*/ 767482 h 4220332"/>
                <a:gd name="connsiteX5" fmla="*/ 4417201 w 4417201"/>
                <a:gd name="connsiteY5" fmla="*/ 2978973 h 4220332"/>
                <a:gd name="connsiteX6" fmla="*/ 4410927 w 4417201"/>
                <a:gd name="connsiteY6" fmla="*/ 2991997 h 4220332"/>
                <a:gd name="connsiteX7" fmla="*/ 2347105 w 4417201"/>
                <a:gd name="connsiteY7" fmla="*/ 4220332 h 4220332"/>
                <a:gd name="connsiteX8" fmla="*/ 0 w 4417201"/>
                <a:gd name="connsiteY8" fmla="*/ 1873227 h 4220332"/>
                <a:gd name="connsiteX9" fmla="*/ 854128 w 4417201"/>
                <a:gd name="connsiteY9" fmla="*/ 62087 h 4220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417201" h="4220332">
                  <a:moveTo>
                    <a:pt x="937156" y="0"/>
                  </a:moveTo>
                  <a:lnTo>
                    <a:pt x="3757054" y="0"/>
                  </a:lnTo>
                  <a:lnTo>
                    <a:pt x="3840082" y="62087"/>
                  </a:lnTo>
                  <a:cubicBezTo>
                    <a:pt x="4071921" y="253417"/>
                    <a:pt x="4266397" y="488402"/>
                    <a:pt x="4410927" y="754458"/>
                  </a:cubicBezTo>
                  <a:lnTo>
                    <a:pt x="4417201" y="767482"/>
                  </a:lnTo>
                  <a:lnTo>
                    <a:pt x="4417201" y="2978973"/>
                  </a:lnTo>
                  <a:lnTo>
                    <a:pt x="4410927" y="2991997"/>
                  </a:lnTo>
                  <a:cubicBezTo>
                    <a:pt x="4013470" y="3723648"/>
                    <a:pt x="3238291" y="4220332"/>
                    <a:pt x="2347105" y="4220332"/>
                  </a:cubicBezTo>
                  <a:cubicBezTo>
                    <a:pt x="1050835" y="4220332"/>
                    <a:pt x="0" y="3169497"/>
                    <a:pt x="0" y="1873227"/>
                  </a:cubicBezTo>
                  <a:cubicBezTo>
                    <a:pt x="0" y="1144075"/>
                    <a:pt x="332491" y="492581"/>
                    <a:pt x="854128" y="62087"/>
                  </a:cubicBezTo>
                  <a:close/>
                </a:path>
              </a:pathLst>
            </a:custGeom>
            <a:solidFill>
              <a:schemeClr val="accent1">
                <a:alpha val="35000"/>
              </a:schemeClr>
            </a:solidFill>
            <a:ln>
              <a:noFill/>
            </a:ln>
            <a:effectLst>
              <a:softEdge rad="825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</a:p>
          </p:txBody>
        </p:sp>
        <p:grpSp>
          <p:nvGrpSpPr>
            <p:cNvPr id="1061" name="组合 1060" descr="336b5199-c3b6-416b-b4c3-48b2d0f1c377"/>
            <p:cNvGrpSpPr/>
            <p:nvPr/>
          </p:nvGrpSpPr>
          <p:grpSpPr>
            <a:xfrm>
              <a:off x="660399" y="1130300"/>
              <a:ext cx="10686824" cy="1924988"/>
              <a:chOff x="660399" y="1130300"/>
              <a:chExt cx="10686824" cy="1924988"/>
            </a:xfrm>
          </p:grpSpPr>
          <p:sp>
            <p:nvSpPr>
              <p:cNvPr id="1077" name="矩形: 圆角 1076" descr="4c3586fa-23d9-4e49-af2e-76338d26b633"/>
              <p:cNvSpPr/>
              <p:nvPr/>
            </p:nvSpPr>
            <p:spPr>
              <a:xfrm>
                <a:off x="660400" y="1130300"/>
                <a:ext cx="10686823" cy="1924988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25400" cap="flat">
                <a:solidFill>
                  <a:schemeClr val="accent1"/>
                </a:solidFill>
                <a:prstDash val="solid"/>
                <a:miter/>
              </a:ln>
              <a:effectLst>
                <a:outerShdw dist="127000" dir="2700000" algn="ctr" rotWithShape="0">
                  <a:schemeClr val="accent1"/>
                </a:outerShdw>
              </a:effectLst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1078" name="Title" descr="5a45af76-8f6a-4fdc-95a8-6d1d1d9ce9ba"/>
              <p:cNvSpPr/>
              <p:nvPr/>
            </p:nvSpPr>
            <p:spPr>
              <a:xfrm>
                <a:off x="660399" y="1130300"/>
                <a:ext cx="10686823" cy="1924988"/>
              </a:xfrm>
              <a:prstGeom prst="rect">
                <a:avLst/>
              </a:prstGeom>
            </p:spPr>
            <p:txBody>
              <a:bodyPr wrap="square" anchor="ctr" anchorCtr="1">
                <a:normAutofit/>
              </a:bodyPr>
              <a:lstStyle/>
              <a:p>
                <a:pPr algn="ctr"/>
                <a:r>
                  <a:rPr lang="en-US" sz="24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介绍教师在教学管理中的主要操作流程与功能支持</a:t>
                </a:r>
                <a:endParaRPr lang="en-US" sz="24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062" name="组合 1061" descr="28d0a0f1-df86-4bbd-9384-7f14e3271eeb"/>
            <p:cNvGrpSpPr/>
            <p:nvPr/>
          </p:nvGrpSpPr>
          <p:grpSpPr>
            <a:xfrm>
              <a:off x="660400" y="3989433"/>
              <a:ext cx="2577426" cy="1859586"/>
              <a:chOff x="999621" y="3991860"/>
              <a:chExt cx="1789247" cy="1859586"/>
            </a:xfrm>
          </p:grpSpPr>
          <p:sp>
            <p:nvSpPr>
              <p:cNvPr id="1073" name="Number1" descr="fcba6dbe-7921-4b86-ab8a-185bb18c3fa1"/>
              <p:cNvSpPr/>
              <p:nvPr/>
            </p:nvSpPr>
            <p:spPr>
              <a:xfrm>
                <a:off x="999621" y="3991860"/>
                <a:ext cx="1733492" cy="354587"/>
              </a:xfrm>
              <a:prstGeom prst="rect">
                <a:avLst/>
              </a:prstGeom>
              <a:solidFill>
                <a:schemeClr val="bg1"/>
              </a:solidFill>
              <a:ln w="25400" cap="rnd">
                <a:solidFill>
                  <a:schemeClr val="accent1"/>
                </a:solidFill>
                <a:prstDash val="solid"/>
                <a:round/>
              </a:ln>
              <a:effectLst>
                <a:outerShdw dist="50800" dir="2700000" algn="ctr" rotWithShape="0">
                  <a:schemeClr val="accent1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0236DE"/>
                    </a:solidFill>
                    <a:latin typeface="Arial" panose="020B0604020202020204"/>
                  </a:rPr>
                  <a:t>01</a:t>
                </a:r>
                <a:endParaRPr lang="en-US" sz="1600" b="0" i="0" u="none">
                  <a:solidFill>
                    <a:srgbClr val="0236DE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1074" name="组合 1073" descr="54b794c6-152b-45de-9976-eb42f5052168"/>
              <p:cNvGrpSpPr/>
              <p:nvPr/>
            </p:nvGrpSpPr>
            <p:grpSpPr>
              <a:xfrm>
                <a:off x="999621" y="4605997"/>
                <a:ext cx="1789247" cy="1245449"/>
                <a:chOff x="1055376" y="4617148"/>
                <a:chExt cx="1733492" cy="1245449"/>
              </a:xfrm>
            </p:grpSpPr>
            <p:sp>
              <p:nvSpPr>
                <p:cNvPr id="1075" name="Bullet1" descr="2fc92015-71b4-4537-ab74-d03ef25c3665"/>
                <p:cNvSpPr txBox="1"/>
                <p:nvPr/>
              </p:nvSpPr>
              <p:spPr>
                <a:xfrm>
                  <a:off x="1055376" y="4617148"/>
                  <a:ext cx="1733492" cy="354587"/>
                </a:xfrm>
                <a:prstGeom prst="rect">
                  <a:avLst/>
                </a:prstGeom>
                <a:noFill/>
              </p:spPr>
              <p:txBody>
                <a:bodyPr wrap="square" anchorCtr="0">
                  <a:normAutofit lnSpcReduction="10000"/>
                </a:bodyPr>
                <a:lstStyle/>
                <a:p>
                  <a:pPr algn="l"/>
                  <a:r>
                    <a: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主讲课程管理</a:t>
                  </a:r>
                  <a:endPara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1076" name="Text1" descr="6962da2b-f093-4a11-b654-2aa7855a9902"/>
                <p:cNvSpPr/>
                <p:nvPr/>
              </p:nvSpPr>
              <p:spPr>
                <a:xfrm>
                  <a:off x="1055376" y="4971735"/>
                  <a:ext cx="1733492" cy="890862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教师可以维护个人可讲授的课程列表（至多三门），并查看课程的基本信息。</a:t>
                  </a:r>
                  <a:endPara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1063" name="组合 1062" descr="c245538d-f439-4d55-8d96-0a1dce59ee92"/>
            <p:cNvGrpSpPr/>
            <p:nvPr/>
          </p:nvGrpSpPr>
          <p:grpSpPr>
            <a:xfrm>
              <a:off x="4800937" y="3989433"/>
              <a:ext cx="2577426" cy="1859586"/>
              <a:chOff x="999621" y="3991860"/>
              <a:chExt cx="1789247" cy="1859586"/>
            </a:xfrm>
          </p:grpSpPr>
          <p:sp>
            <p:nvSpPr>
              <p:cNvPr id="1069" name="Number2" descr="b088adca-0b95-46e3-b1dd-f1adcae8e71f"/>
              <p:cNvSpPr/>
              <p:nvPr/>
            </p:nvSpPr>
            <p:spPr>
              <a:xfrm>
                <a:off x="999621" y="3991860"/>
                <a:ext cx="1733492" cy="354587"/>
              </a:xfrm>
              <a:prstGeom prst="rect">
                <a:avLst/>
              </a:prstGeom>
              <a:solidFill>
                <a:schemeClr val="bg1"/>
              </a:solidFill>
              <a:ln w="25400" cap="rnd">
                <a:solidFill>
                  <a:schemeClr val="accent1"/>
                </a:solidFill>
                <a:prstDash val="solid"/>
                <a:round/>
              </a:ln>
              <a:effectLst>
                <a:outerShdw dist="50800" dir="2700000" algn="ctr" rotWithShape="0">
                  <a:schemeClr val="accent1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0236DE"/>
                    </a:solidFill>
                    <a:latin typeface="Arial" panose="020B0604020202020204"/>
                  </a:rPr>
                  <a:t>02</a:t>
                </a:r>
                <a:endParaRPr lang="en-US" sz="1600" b="0" i="0" u="none">
                  <a:solidFill>
                    <a:srgbClr val="0236DE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1070" name="组合 1069" descr="9dffba67-f604-4c2a-a52b-4fcb80c9fe9b"/>
              <p:cNvGrpSpPr/>
              <p:nvPr/>
            </p:nvGrpSpPr>
            <p:grpSpPr>
              <a:xfrm>
                <a:off x="999621" y="4605997"/>
                <a:ext cx="1789247" cy="1245449"/>
                <a:chOff x="1055376" y="4617148"/>
                <a:chExt cx="1733492" cy="1245449"/>
              </a:xfrm>
            </p:grpSpPr>
            <p:sp>
              <p:nvSpPr>
                <p:cNvPr id="1071" name="Bullet2" descr="22b084da-f06a-45e2-84f1-b0f8ea52087b"/>
                <p:cNvSpPr txBox="1"/>
                <p:nvPr/>
              </p:nvSpPr>
              <p:spPr>
                <a:xfrm>
                  <a:off x="1055376" y="4617148"/>
                  <a:ext cx="1733492" cy="354587"/>
                </a:xfrm>
                <a:prstGeom prst="rect">
                  <a:avLst/>
                </a:prstGeom>
                <a:noFill/>
              </p:spPr>
              <p:txBody>
                <a:bodyPr wrap="square" anchorCtr="0">
                  <a:normAutofit lnSpcReduction="10000"/>
                </a:bodyPr>
                <a:lstStyle/>
                <a:p>
                  <a:pPr algn="l"/>
                  <a:r>
                    <a: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选课名单管理</a:t>
                  </a:r>
                  <a:endPara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1072" name="Text2" descr="ead9b3d5-42b4-4597-9b34-3afc04342ae4"/>
                <p:cNvSpPr/>
                <p:nvPr/>
              </p:nvSpPr>
              <p:spPr>
                <a:xfrm>
                  <a:off x="1055376" y="4971735"/>
                  <a:ext cx="1733492" cy="890862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能够清晰查看选择自己所授课程的学生列表，便于教学组织与课堂管理。</a:t>
                  </a:r>
                  <a:endPara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1064" name="组合 1063" descr="e9fbe3ee-38b2-47d8-87c8-dbf10c201457"/>
            <p:cNvGrpSpPr/>
            <p:nvPr/>
          </p:nvGrpSpPr>
          <p:grpSpPr>
            <a:xfrm>
              <a:off x="8941474" y="3989433"/>
              <a:ext cx="2577426" cy="1859586"/>
              <a:chOff x="999621" y="3991860"/>
              <a:chExt cx="1789247" cy="1859586"/>
            </a:xfrm>
          </p:grpSpPr>
          <p:sp>
            <p:nvSpPr>
              <p:cNvPr id="1065" name="Number3" descr="c604f5cd-bf5d-44fe-90e8-e9d617accd8d"/>
              <p:cNvSpPr/>
              <p:nvPr/>
            </p:nvSpPr>
            <p:spPr>
              <a:xfrm>
                <a:off x="999621" y="3991860"/>
                <a:ext cx="1733492" cy="354587"/>
              </a:xfrm>
              <a:prstGeom prst="rect">
                <a:avLst/>
              </a:prstGeom>
              <a:solidFill>
                <a:schemeClr val="bg1"/>
              </a:solidFill>
              <a:ln w="25400" cap="rnd">
                <a:solidFill>
                  <a:schemeClr val="accent1"/>
                </a:solidFill>
                <a:prstDash val="solid"/>
                <a:round/>
              </a:ln>
              <a:effectLst>
                <a:outerShdw dist="50800" dir="2700000" algn="ctr" rotWithShape="0">
                  <a:schemeClr val="accent1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0236DE"/>
                    </a:solidFill>
                    <a:latin typeface="Arial" panose="020B0604020202020204"/>
                  </a:rPr>
                  <a:t>03</a:t>
                </a:r>
                <a:endParaRPr lang="en-US" sz="1600" b="0" i="0" u="none">
                  <a:solidFill>
                    <a:srgbClr val="0236DE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1066" name="组合 1065" descr="971c0680-a4a0-473a-bef6-0859cca3a0c0"/>
              <p:cNvGrpSpPr/>
              <p:nvPr/>
            </p:nvGrpSpPr>
            <p:grpSpPr>
              <a:xfrm>
                <a:off x="999621" y="4605997"/>
                <a:ext cx="1789247" cy="1245449"/>
                <a:chOff x="1055376" y="4617148"/>
                <a:chExt cx="1733492" cy="1245449"/>
              </a:xfrm>
            </p:grpSpPr>
            <p:sp>
              <p:nvSpPr>
                <p:cNvPr id="1067" name="Bullet3" descr="3314f991-e5b6-4684-a8bb-2f8397557d8c"/>
                <p:cNvSpPr txBox="1"/>
                <p:nvPr/>
              </p:nvSpPr>
              <p:spPr>
                <a:xfrm>
                  <a:off x="1055376" y="4617148"/>
                  <a:ext cx="1733492" cy="354587"/>
                </a:xfrm>
                <a:prstGeom prst="rect">
                  <a:avLst/>
                </a:prstGeom>
                <a:noFill/>
              </p:spPr>
              <p:txBody>
                <a:bodyPr wrap="square" anchorCtr="0">
                  <a:normAutofit lnSpcReduction="10000"/>
                </a:bodyPr>
                <a:lstStyle/>
                <a:p>
                  <a:pPr algn="l"/>
                  <a:r>
                    <a: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成绩录入与修改</a:t>
                  </a:r>
                  <a:endPara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1068" name="Text3" descr="ce223e6f-7610-4623-8bcf-cef3397094b5"/>
                <p:cNvSpPr/>
                <p:nvPr/>
              </p:nvSpPr>
              <p:spPr>
                <a:xfrm>
                  <a:off x="1055376" y="4971735"/>
                  <a:ext cx="1733492" cy="890862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在考试结束后，为所选课程的学生录入或更新考试成绩，支持单条录入与批量导入。</a:t>
                  </a:r>
                  <a:endPara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</p:grpSp>
        </p:grpSp>
      </p:grpSp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教师端核心功能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e681e976-c2db-416d-98a0-e17f4ad40312.source.3.zh-Hans.pptx" descr="bd9bc4cd-3f7c-4363-ae47-2697c6b64a30"/>
          <p:cNvGrpSpPr/>
          <p:nvPr/>
        </p:nvGrpSpPr>
        <p:grpSpPr>
          <a:xfrm>
            <a:off x="555414" y="1130300"/>
            <a:ext cx="11075370" cy="4597400"/>
            <a:chOff x="555414" y="1130300"/>
            <a:chExt cx="11075370" cy="4597400"/>
          </a:xfrm>
        </p:grpSpPr>
        <p:grpSp>
          <p:nvGrpSpPr>
            <p:cNvPr id="4" name="组合 3" descr="e8f3598b-c679-4bb3-b28d-9554d690601a"/>
            <p:cNvGrpSpPr/>
            <p:nvPr/>
          </p:nvGrpSpPr>
          <p:grpSpPr>
            <a:xfrm>
              <a:off x="555414" y="3510525"/>
              <a:ext cx="11075370" cy="2217175"/>
              <a:chOff x="555414" y="3510525"/>
              <a:chExt cx="11075370" cy="2217175"/>
            </a:xfrm>
          </p:grpSpPr>
          <p:grpSp>
            <p:nvGrpSpPr>
              <p:cNvPr id="24" name="组合 23" descr="ca1c8b22-7211-4031-ad2b-d2f1e4478b7a"/>
              <p:cNvGrpSpPr/>
              <p:nvPr/>
            </p:nvGrpSpPr>
            <p:grpSpPr>
              <a:xfrm>
                <a:off x="555414" y="3515423"/>
                <a:ext cx="3146602" cy="2212277"/>
                <a:chOff x="5889114" y="2420304"/>
                <a:chExt cx="3146602" cy="2212277"/>
              </a:xfrm>
            </p:grpSpPr>
            <p:cxnSp>
              <p:nvCxnSpPr>
                <p:cNvPr id="31" name="直接箭头连接符 30" descr="9311529c-c79a-4d22-ae66-b81701870c90"/>
                <p:cNvCxnSpPr/>
                <p:nvPr/>
              </p:nvCxnSpPr>
              <p:spPr>
                <a:xfrm>
                  <a:off x="5984170" y="3071533"/>
                  <a:ext cx="2834977" cy="0"/>
                </a:xfrm>
                <a:prstGeom prst="straightConnector1">
                  <a:avLst/>
                </a:prstGeom>
                <a:ln w="15875">
                  <a:solidFill>
                    <a:schemeClr val="tx2">
                      <a:alpha val="50000"/>
                    </a:schemeClr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2" name="组合 31" descr="e6da4186-4ba7-496a-9ad8-80f3076487ce"/>
                <p:cNvGrpSpPr/>
                <p:nvPr/>
              </p:nvGrpSpPr>
              <p:grpSpPr>
                <a:xfrm>
                  <a:off x="5889114" y="3139300"/>
                  <a:ext cx="3146602" cy="1493281"/>
                  <a:chOff x="7119257" y="2273790"/>
                  <a:chExt cx="2113471" cy="1469181"/>
                </a:xfrm>
                <a:noFill/>
              </p:grpSpPr>
              <p:sp>
                <p:nvSpPr>
                  <p:cNvPr id="34" name="Bullet1" descr="27dd08e9-d03b-4bcf-8455-5328dc69ca09"/>
                  <p:cNvSpPr/>
                  <p:nvPr/>
                </p:nvSpPr>
                <p:spPr>
                  <a:xfrm>
                    <a:off x="7119258" y="2273790"/>
                    <a:ext cx="2113470" cy="463994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/>
                    <a:r>
                      <a:rPr lang="en-US" sz="1800" b="1" i="0" u="none">
                        <a:solidFill>
                          <a:srgbClr val="000000"/>
                        </a:solidFill>
                        <a:ea typeface="微软雅黑" panose="020B0503020204020204" charset="-122"/>
                      </a:rPr>
                      <a:t>个人信息维护</a:t>
                    </a:r>
                    <a:endPara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35" name="Text1" descr="e59ba0c9-9d68-46a6-9045-6497ed36ab86"/>
                  <p:cNvSpPr/>
                  <p:nvPr/>
                </p:nvSpPr>
                <p:spPr>
                  <a:xfrm>
                    <a:off x="7119257" y="2749638"/>
                    <a:ext cx="2113471" cy="9933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 panose="020B0503020204020204" charset="-122"/>
                      </a:rPr>
                      <a:t>学生可以登录系统查看并修改个人基本信息，如联系方式等。</a:t>
                    </a:r>
                    <a:endPara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  <p:sp>
              <p:nvSpPr>
                <p:cNvPr id="33" name="Number1" descr="1a9b6c9d-f91b-4f88-a6d3-7edf8e89f880"/>
                <p:cNvSpPr/>
                <p:nvPr/>
              </p:nvSpPr>
              <p:spPr>
                <a:xfrm>
                  <a:off x="5889116" y="2420304"/>
                  <a:ext cx="726724" cy="646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l"/>
                  <a:r>
                    <a:rPr lang="en-US" sz="3600" b="1" i="0" u="none">
                      <a:solidFill>
                        <a:srgbClr val="0236DE"/>
                      </a:solidFill>
                      <a:latin typeface="Arial" panose="020B0604020202020204"/>
                    </a:rPr>
                    <a:t>01</a:t>
                  </a:r>
                  <a:endParaRPr lang="en-US" sz="3600" b="1" i="0" u="none">
                    <a:solidFill>
                      <a:srgbClr val="0236DE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25" name="组合 24" descr="0d3ddce3-93e3-4c03-9d50-496ec5e08243"/>
              <p:cNvGrpSpPr/>
              <p:nvPr/>
            </p:nvGrpSpPr>
            <p:grpSpPr>
              <a:xfrm>
                <a:off x="4519798" y="3512974"/>
                <a:ext cx="3146602" cy="2212277"/>
                <a:chOff x="5889114" y="2420304"/>
                <a:chExt cx="3146602" cy="2212277"/>
              </a:xfrm>
            </p:grpSpPr>
            <p:cxnSp>
              <p:nvCxnSpPr>
                <p:cNvPr id="26" name="直接箭头连接符 25" descr="0ede1775-b7b1-4919-8c44-19166d3ea062"/>
                <p:cNvCxnSpPr/>
                <p:nvPr/>
              </p:nvCxnSpPr>
              <p:spPr>
                <a:xfrm>
                  <a:off x="5984170" y="3071533"/>
                  <a:ext cx="2834977" cy="0"/>
                </a:xfrm>
                <a:prstGeom prst="straightConnector1">
                  <a:avLst/>
                </a:prstGeom>
                <a:ln w="15875">
                  <a:solidFill>
                    <a:schemeClr val="tx2">
                      <a:alpha val="50000"/>
                    </a:schemeClr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7" name="组合 26" descr="d81b7d10-65b7-4fad-9961-0a122ec1376e"/>
                <p:cNvGrpSpPr/>
                <p:nvPr/>
              </p:nvGrpSpPr>
              <p:grpSpPr>
                <a:xfrm>
                  <a:off x="5889114" y="3139300"/>
                  <a:ext cx="3146602" cy="1493281"/>
                  <a:chOff x="7119257" y="2273790"/>
                  <a:chExt cx="2113471" cy="1469181"/>
                </a:xfrm>
                <a:noFill/>
              </p:grpSpPr>
              <p:sp>
                <p:nvSpPr>
                  <p:cNvPr id="29" name="Bullet2" descr="73340079-e135-4665-b200-bdd4306eef3b"/>
                  <p:cNvSpPr/>
                  <p:nvPr/>
                </p:nvSpPr>
                <p:spPr>
                  <a:xfrm>
                    <a:off x="7119258" y="2273790"/>
                    <a:ext cx="2113470" cy="463994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/>
                    <a:r>
                      <a:rPr lang="en-US" sz="1800" b="1" i="0" u="none">
                        <a:solidFill>
                          <a:srgbClr val="000000"/>
                        </a:solidFill>
                        <a:ea typeface="微软雅黑" panose="020B0503020204020204" charset="-122"/>
                      </a:rPr>
                      <a:t>在线选课/退课</a:t>
                    </a:r>
                    <a:endPara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30" name="Text2" descr="7f6229c8-e6dc-46e1-af63-3f5152d19059"/>
                  <p:cNvSpPr/>
                  <p:nvPr/>
                </p:nvSpPr>
                <p:spPr>
                  <a:xfrm>
                    <a:off x="7119257" y="2749638"/>
                    <a:ext cx="2113471" cy="9933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 panose="020B0503020204020204" charset="-122"/>
                      </a:rPr>
                      <a:t>在规定时间内，从开放的课程列表中选择心仪的课程，或在选课结束后退选不合适的课程。</a:t>
                    </a:r>
                    <a:endPara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  <p:sp>
              <p:nvSpPr>
                <p:cNvPr id="28" name="Number2" descr="5dfa66c0-05a0-4d23-9f91-7e0fb530d61b"/>
                <p:cNvSpPr/>
                <p:nvPr/>
              </p:nvSpPr>
              <p:spPr>
                <a:xfrm>
                  <a:off x="5889116" y="2420304"/>
                  <a:ext cx="726724" cy="646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l"/>
                  <a:r>
                    <a:rPr lang="en-US" sz="3600" b="1" i="0" u="none">
                      <a:solidFill>
                        <a:srgbClr val="778495"/>
                      </a:solidFill>
                      <a:latin typeface="Arial" panose="020B0604020202020204"/>
                    </a:rPr>
                    <a:t>02</a:t>
                  </a:r>
                  <a:endParaRPr lang="en-US" sz="3600" b="1" i="0" u="none">
                    <a:solidFill>
                      <a:srgbClr val="778495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12" name="组合 11" descr="9c681193-c575-4207-a938-dd1eb109f537"/>
              <p:cNvGrpSpPr/>
              <p:nvPr/>
            </p:nvGrpSpPr>
            <p:grpSpPr>
              <a:xfrm>
                <a:off x="8484182" y="3510525"/>
                <a:ext cx="3146602" cy="2212277"/>
                <a:chOff x="5889114" y="2420304"/>
                <a:chExt cx="3146602" cy="2212277"/>
              </a:xfrm>
            </p:grpSpPr>
            <p:cxnSp>
              <p:nvCxnSpPr>
                <p:cNvPr id="19" name="直接箭头连接符 18" descr="0efc0ead-4a8c-4242-8436-bd6b61c22134"/>
                <p:cNvCxnSpPr/>
                <p:nvPr/>
              </p:nvCxnSpPr>
              <p:spPr>
                <a:xfrm>
                  <a:off x="5984170" y="3071533"/>
                  <a:ext cx="2834977" cy="0"/>
                </a:xfrm>
                <a:prstGeom prst="straightConnector1">
                  <a:avLst/>
                </a:prstGeom>
                <a:ln w="15875">
                  <a:solidFill>
                    <a:schemeClr val="tx2">
                      <a:alpha val="50000"/>
                    </a:schemeClr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0" name="组合 19" descr="9ec14e29-3ed7-43e5-ac07-a99490747754"/>
                <p:cNvGrpSpPr/>
                <p:nvPr/>
              </p:nvGrpSpPr>
              <p:grpSpPr>
                <a:xfrm>
                  <a:off x="5889114" y="3139300"/>
                  <a:ext cx="3146602" cy="1493281"/>
                  <a:chOff x="7119257" y="2273790"/>
                  <a:chExt cx="2113471" cy="1469181"/>
                </a:xfrm>
                <a:noFill/>
              </p:grpSpPr>
              <p:sp>
                <p:nvSpPr>
                  <p:cNvPr id="22" name="Bullet3" descr="7938a0ca-9db5-44cc-8d26-cae46c42bcef"/>
                  <p:cNvSpPr/>
                  <p:nvPr/>
                </p:nvSpPr>
                <p:spPr>
                  <a:xfrm>
                    <a:off x="7119258" y="2273790"/>
                    <a:ext cx="2113470" cy="463994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/>
                    <a:r>
                      <a:rPr lang="en-US" sz="1800" b="1" i="0" u="none">
                        <a:solidFill>
                          <a:srgbClr val="000000"/>
                        </a:solidFill>
                        <a:ea typeface="微软雅黑" panose="020B0503020204020204" charset="-122"/>
                      </a:rPr>
                      <a:t>信息查询</a:t>
                    </a:r>
                    <a:endPara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23" name="Text3" descr="eab14517-af7a-4429-af4a-6cddeb3f271c"/>
                  <p:cNvSpPr/>
                  <p:nvPr/>
                </p:nvSpPr>
                <p:spPr>
                  <a:xfrm>
                    <a:off x="7119257" y="2749638"/>
                    <a:ext cx="2113471" cy="9933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 panose="020B0503020204020204" charset="-122"/>
                      </a:rPr>
                      <a:t>可随时查询个人课表、已修课程的成绩、所选课程的详细信息以及考试安排等。</a:t>
                    </a:r>
                    <a:endPara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  <p:sp>
              <p:nvSpPr>
                <p:cNvPr id="21" name="Number3" descr="4d1e8b16-e55f-4669-b961-bb4ac4492385"/>
                <p:cNvSpPr/>
                <p:nvPr/>
              </p:nvSpPr>
              <p:spPr>
                <a:xfrm>
                  <a:off x="5889116" y="2420304"/>
                  <a:ext cx="726724" cy="646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l"/>
                  <a:r>
                    <a:rPr lang="en-US" sz="3600" b="1" i="0" u="none">
                      <a:solidFill>
                        <a:srgbClr val="0236DE"/>
                      </a:solidFill>
                      <a:latin typeface="Arial" panose="020B0604020202020204"/>
                    </a:rPr>
                    <a:t>03</a:t>
                  </a:r>
                  <a:endParaRPr lang="en-US" sz="3600" b="1" i="0" u="none">
                    <a:solidFill>
                      <a:srgbClr val="0236DE"/>
                    </a:solidFill>
                    <a:latin typeface="Arial" panose="020B0604020202020204"/>
                  </a:endParaRPr>
                </a:p>
              </p:txBody>
            </p:sp>
          </p:grpSp>
        </p:grpSp>
        <p:sp>
          <p:nvSpPr>
            <p:cNvPr id="3" name="Title" descr="04176ecd-6783-4ab1-8627-691af7fa2e92"/>
            <p:cNvSpPr txBox="1"/>
            <p:nvPr/>
          </p:nvSpPr>
          <p:spPr>
            <a:xfrm>
              <a:off x="2026816" y="1130300"/>
              <a:ext cx="8125668" cy="584775"/>
            </a:xfrm>
            <a:prstGeom prst="rect">
              <a:avLst/>
            </a:prstGeom>
            <a:noFill/>
            <a:effectLst/>
          </p:spPr>
          <p:txBody>
            <a:bodyPr wrap="square" rtlCol="0" anchor="t" anchorCtr="1">
              <a:normAutofit/>
            </a:bodyPr>
            <a:lstStyle>
              <a:defPPr>
                <a:defRPr lang="zh-CN"/>
              </a:defPPr>
              <a:lvl1pPr>
                <a:defRPr sz="2000" b="1" i="0">
                  <a:gradFill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60000">
                        <a:schemeClr val="accent2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1">
                        <a:alpha val="20000"/>
                      </a:schemeClr>
                    </a:outerShdw>
                  </a:effectLst>
                </a:defRPr>
              </a:lvl1pPr>
            </a:lstStyle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介绍学生在选课与学业查询中的主要操作流程与功能支持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</p:grpSp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学生端核心功能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4ba0520-b3a6-4c53-82c4-5f3fcfccff0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 panose="020B0503020204020204" charset="-122"/>
              </a:rPr>
              <a:t>关键技术实现</a:t>
            </a:r>
            <a:endParaRPr lang="en-US" sz="36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80b90c15-9122-40e0-9afe-3acbf0504dba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 panose="020B0503020204020204" charset="-122"/>
              </a:rPr>
              <a:t>揭秘系统背后的技术栈选择与数据交互流程，展示系统的技术实现路径。</a:t>
            </a:r>
            <a:endParaRPr lang="en-US" sz="16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3719118f-5062-40f9-a917-3747ef7111e8.source.3.zh-Hans.pptx" descr="a2cf77b1-0216-4afe-9526-abd3636895ba"/>
          <p:cNvGrpSpPr/>
          <p:nvPr/>
        </p:nvGrpSpPr>
        <p:grpSpPr>
          <a:xfrm>
            <a:off x="660400" y="1130300"/>
            <a:ext cx="10858500" cy="4518025"/>
            <a:chOff x="660400" y="1130300"/>
            <a:chExt cx="10858500" cy="4518025"/>
          </a:xfrm>
        </p:grpSpPr>
        <p:sp>
          <p:nvSpPr>
            <p:cNvPr id="5" name="Title" descr="c0572cd0-4315-40d2-b2f0-6a4c3699d2a7"/>
            <p:cNvSpPr txBox="1"/>
            <p:nvPr/>
          </p:nvSpPr>
          <p:spPr>
            <a:xfrm>
              <a:off x="660400" y="1130300"/>
              <a:ext cx="10858500" cy="696153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介绍系统前后端开发所采用的主要技术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8" name="组合 7" descr="651f4ba6-85e2-47c6-a359-8dc400dbf35a"/>
            <p:cNvGrpSpPr/>
            <p:nvPr/>
          </p:nvGrpSpPr>
          <p:grpSpPr>
            <a:xfrm>
              <a:off x="880434" y="2603338"/>
              <a:ext cx="3472802" cy="3015276"/>
              <a:chOff x="822641" y="2603338"/>
              <a:chExt cx="3472802" cy="3015276"/>
            </a:xfrm>
          </p:grpSpPr>
          <p:sp>
            <p:nvSpPr>
              <p:cNvPr id="30" name="Bullet1" descr="5ab500f7-69b0-4f17-9a84-6c59008296ec"/>
              <p:cNvSpPr txBox="1"/>
              <p:nvPr/>
            </p:nvSpPr>
            <p:spPr>
              <a:xfrm>
                <a:off x="1438220" y="3770514"/>
                <a:ext cx="2857223" cy="547137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normAutofit/>
              </a:bodyPr>
              <a:lstStyle>
                <a:defPPr>
                  <a:defRPr lang="zh-CN"/>
                </a:defPPr>
                <a:lvl1pPr algn="ctr" defTabSz="914400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后端开发语言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5" name="Number1" descr="2c4c7c3b-ff0b-4b63-971b-46227a69b757"/>
              <p:cNvSpPr/>
              <p:nvPr/>
            </p:nvSpPr>
            <p:spPr>
              <a:xfrm>
                <a:off x="822641" y="2603338"/>
                <a:ext cx="1094172" cy="1094172"/>
              </a:xfrm>
              <a:prstGeom prst="ellipse">
                <a:avLst/>
              </a:pr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3200" b="1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32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37" name="Text1" descr="e3c604b8-4639-4886-833c-fc5cc062fdfb"/>
              <p:cNvSpPr/>
              <p:nvPr/>
            </p:nvSpPr>
            <p:spPr>
              <a:xfrm>
                <a:off x="1438219" y="4317651"/>
                <a:ext cx="2857223" cy="1300963"/>
              </a:xfrm>
              <a:prstGeom prst="rect">
                <a:avLst/>
              </a:prstGeom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采用Java语言作为后端开发基础，利用其跨平台、高性能、生态丰富的特点构建稳定可靠的业务逻辑层。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42" name="line1" descr="d926a9ea-97dc-4b0e-b769-67d207e5868c"/>
              <p:cNvCxnSpPr>
                <a:stCxn id="35" idx="4"/>
              </p:cNvCxnSpPr>
              <p:nvPr/>
            </p:nvCxnSpPr>
            <p:spPr>
              <a:xfrm>
                <a:off x="1369727" y="3697510"/>
                <a:ext cx="0" cy="1107755"/>
              </a:xfrm>
              <a:prstGeom prst="line">
                <a:avLst/>
              </a:prstGeom>
              <a:ln w="15875">
                <a:solidFill>
                  <a:schemeClr val="tx2">
                    <a:alpha val="50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 descr="620afea9-7534-4a63-ae5a-8d2415c62baf"/>
            <p:cNvGrpSpPr/>
            <p:nvPr/>
          </p:nvGrpSpPr>
          <p:grpSpPr>
            <a:xfrm>
              <a:off x="4353249" y="2633049"/>
              <a:ext cx="3472802" cy="3015276"/>
              <a:chOff x="3329559" y="2633049"/>
              <a:chExt cx="3472802" cy="3015276"/>
            </a:xfrm>
          </p:grpSpPr>
          <p:sp>
            <p:nvSpPr>
              <p:cNvPr id="22" name="Bullet2" descr="9a753b0c-7af0-4db5-840c-0732f7d89953"/>
              <p:cNvSpPr txBox="1"/>
              <p:nvPr/>
            </p:nvSpPr>
            <p:spPr>
              <a:xfrm>
                <a:off x="3945138" y="3800225"/>
                <a:ext cx="2857223" cy="547137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normAutofit/>
              </a:bodyPr>
              <a:lstStyle>
                <a:defPPr>
                  <a:defRPr lang="zh-CN"/>
                </a:defPPr>
                <a:lvl1pPr algn="ctr" defTabSz="914400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前端界面框架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6" name="Number2" descr="a875b196-768f-4d8e-ac30-4dd0e02e97e9"/>
              <p:cNvSpPr/>
              <p:nvPr/>
            </p:nvSpPr>
            <p:spPr>
              <a:xfrm>
                <a:off x="3329559" y="2633049"/>
                <a:ext cx="1094172" cy="1094172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3200" b="1" i="0" u="none">
                    <a:solidFill>
                      <a:srgbClr val="FFFFFF"/>
                    </a:solidFill>
                    <a:latin typeface="Arial" panose="020B0604020202020204"/>
                  </a:rPr>
                  <a:t>02</a:t>
                </a:r>
                <a:endParaRPr lang="en-US" sz="32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7" name="Text2" descr="95d13516-6ae0-4908-a2c2-d615231610e8"/>
              <p:cNvSpPr/>
              <p:nvPr/>
            </p:nvSpPr>
            <p:spPr>
              <a:xfrm>
                <a:off x="3945137" y="4347362"/>
                <a:ext cx="2857223" cy="1300963"/>
              </a:xfrm>
              <a:prstGeom prst="rect">
                <a:avLst/>
              </a:prstGeom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选用Java Swing作为桌面应用的前端界面框架，实现了美观、交互友好的用户操作界面。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28" name="line2" descr="896e4aa0-b311-4728-9d8e-a44de1e05e2f"/>
              <p:cNvCxnSpPr/>
              <p:nvPr/>
            </p:nvCxnSpPr>
            <p:spPr>
              <a:xfrm>
                <a:off x="3876645" y="3674336"/>
                <a:ext cx="0" cy="1160640"/>
              </a:xfrm>
              <a:prstGeom prst="line">
                <a:avLst/>
              </a:prstGeom>
              <a:ln w="15875"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 descr="57f6ec1c-827e-455a-a8fc-6833534b9bf0"/>
            <p:cNvGrpSpPr/>
            <p:nvPr/>
          </p:nvGrpSpPr>
          <p:grpSpPr>
            <a:xfrm>
              <a:off x="7826064" y="2633049"/>
              <a:ext cx="3472802" cy="3015276"/>
              <a:chOff x="6096000" y="2633049"/>
              <a:chExt cx="3472802" cy="3015276"/>
            </a:xfrm>
          </p:grpSpPr>
          <p:sp>
            <p:nvSpPr>
              <p:cNvPr id="18" name="Bullet3" descr="1d10d077-eff8-4f34-9738-3596bc3adb80"/>
              <p:cNvSpPr txBox="1"/>
              <p:nvPr/>
            </p:nvSpPr>
            <p:spPr>
              <a:xfrm>
                <a:off x="6711579" y="3800225"/>
                <a:ext cx="2857223" cy="547137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normAutofit/>
              </a:bodyPr>
              <a:lstStyle>
                <a:defPPr>
                  <a:defRPr lang="zh-CN"/>
                </a:defPPr>
                <a:lvl1pPr algn="ctr" defTabSz="914400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数据库管理系统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9" name="Number3" descr="ff8dd30d-4578-4e4a-afaf-a0931f4f2fff"/>
              <p:cNvSpPr/>
              <p:nvPr/>
            </p:nvSpPr>
            <p:spPr>
              <a:xfrm>
                <a:off x="6096000" y="2633049"/>
                <a:ext cx="1094172" cy="1094172"/>
              </a:xfrm>
              <a:prstGeom prst="ellipse">
                <a:avLst/>
              </a:prstGeom>
              <a:solidFill>
                <a:schemeClr val="tx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3200" b="1" i="0" u="none">
                    <a:solidFill>
                      <a:srgbClr val="FFFFFF"/>
                    </a:solidFill>
                    <a:latin typeface="Arial" panose="020B0604020202020204"/>
                  </a:rPr>
                  <a:t>03</a:t>
                </a:r>
                <a:endParaRPr lang="en-US" sz="32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0" name="Text3" descr="9ecf60e7-23e2-46a4-a7ce-480fabfd99d3"/>
              <p:cNvSpPr/>
              <p:nvPr/>
            </p:nvSpPr>
            <p:spPr>
              <a:xfrm>
                <a:off x="6711578" y="4347362"/>
                <a:ext cx="2857223" cy="1300963"/>
              </a:xfrm>
              <a:prstGeom prst="rect">
                <a:avLst/>
              </a:prstGeom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使用MySQL数据库作为数据存储核心，它开源、稳定且性能优异，能满足系统数据存储与管理的需求。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21" name="line3" descr="74ad24e6-f3a6-42e9-a487-a67d57c103c2"/>
              <p:cNvCxnSpPr>
                <a:stCxn id="19" idx="4"/>
              </p:cNvCxnSpPr>
              <p:nvPr/>
            </p:nvCxnSpPr>
            <p:spPr>
              <a:xfrm>
                <a:off x="6643086" y="3727221"/>
                <a:ext cx="0" cy="1107755"/>
              </a:xfrm>
              <a:prstGeom prst="line">
                <a:avLst/>
              </a:prstGeom>
              <a:ln w="15875">
                <a:solidFill>
                  <a:schemeClr val="tx2">
                    <a:alpha val="50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系统开发技术栈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28af01f5-6e97-49ab-96bf-b45f0b20dc3e.source.5.zh-Hans.pptx" descr="4dd15d9f-f5ed-4b9b-b627-e8fb597231d9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0" name="环形箭头 29" descr="90ff2dd5-b04a-4af3-8aef-da26588875e1"/>
            <p:cNvSpPr/>
            <p:nvPr/>
          </p:nvSpPr>
          <p:spPr>
            <a:xfrm>
              <a:off x="5525494" y="1830386"/>
              <a:ext cx="1333223" cy="1333290"/>
            </a:xfrm>
            <a:prstGeom prst="circularArrow">
              <a:avLst>
                <a:gd name="adj1" fmla="val 10980"/>
                <a:gd name="adj2" fmla="val 1142322"/>
                <a:gd name="adj3" fmla="val 4500000"/>
                <a:gd name="adj4" fmla="val 10800000"/>
                <a:gd name="adj5" fmla="val 125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Ctr="0"/>
            <a:lstStyle/>
            <a:p>
              <a:pPr algn="l"/>
            </a:p>
          </p:txBody>
        </p:sp>
        <p:sp>
          <p:nvSpPr>
            <p:cNvPr id="32" name="形状 31" descr="6866277c-6369-43da-a37c-8340ee98a9fe"/>
            <p:cNvSpPr/>
            <p:nvPr/>
          </p:nvSpPr>
          <p:spPr>
            <a:xfrm>
              <a:off x="5155113" y="2596446"/>
              <a:ext cx="1333223" cy="1333290"/>
            </a:xfrm>
            <a:prstGeom prst="leftCircularArrow">
              <a:avLst>
                <a:gd name="adj1" fmla="val 10980"/>
                <a:gd name="adj2" fmla="val 1142322"/>
                <a:gd name="adj3" fmla="val 6300000"/>
                <a:gd name="adj4" fmla="val 18900000"/>
                <a:gd name="adj5" fmla="val 12500"/>
              </a:avLst>
            </a:pr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Ctr="0"/>
            <a:lstStyle/>
            <a:p>
              <a:pPr algn="l"/>
            </a:p>
          </p:txBody>
        </p:sp>
        <p:sp>
          <p:nvSpPr>
            <p:cNvPr id="34" name="环形箭头 33" descr="3314ef3f-f382-4159-a160-65a520031e8b"/>
            <p:cNvSpPr/>
            <p:nvPr/>
          </p:nvSpPr>
          <p:spPr>
            <a:xfrm>
              <a:off x="5525494" y="3365951"/>
              <a:ext cx="1333223" cy="1333290"/>
            </a:xfrm>
            <a:prstGeom prst="circularArrow">
              <a:avLst>
                <a:gd name="adj1" fmla="val 10980"/>
                <a:gd name="adj2" fmla="val 1142322"/>
                <a:gd name="adj3" fmla="val 4500000"/>
                <a:gd name="adj4" fmla="val 13500000"/>
                <a:gd name="adj5" fmla="val 125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Ctr="0"/>
            <a:lstStyle/>
            <a:p>
              <a:pPr algn="l"/>
            </a:p>
          </p:txBody>
        </p:sp>
        <p:sp>
          <p:nvSpPr>
            <p:cNvPr id="37" name="形状 36" descr="a59f61fe-7e2f-4467-9328-67bd5d18bb1b"/>
            <p:cNvSpPr/>
            <p:nvPr/>
          </p:nvSpPr>
          <p:spPr>
            <a:xfrm>
              <a:off x="5155113" y="4133303"/>
              <a:ext cx="1333223" cy="1333290"/>
            </a:xfrm>
            <a:prstGeom prst="leftCircularArrow">
              <a:avLst>
                <a:gd name="adj1" fmla="val 10980"/>
                <a:gd name="adj2" fmla="val 1142322"/>
                <a:gd name="adj3" fmla="val 6300000"/>
                <a:gd name="adj4" fmla="val 18900000"/>
                <a:gd name="adj5" fmla="val 12500"/>
              </a:avLst>
            </a:pr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Ctr="0"/>
            <a:lstStyle/>
            <a:p>
              <a:pPr algn="l"/>
            </a:p>
          </p:txBody>
        </p:sp>
        <p:sp>
          <p:nvSpPr>
            <p:cNvPr id="39" name="空心弧 38" descr="c96128b6-2415-4456-9d7e-a26b63dccdbe"/>
            <p:cNvSpPr/>
            <p:nvPr/>
          </p:nvSpPr>
          <p:spPr>
            <a:xfrm>
              <a:off x="5620278" y="4988021"/>
              <a:ext cx="1145406" cy="1146079"/>
            </a:xfrm>
            <a:prstGeom prst="blockArc">
              <a:avLst>
                <a:gd name="adj1" fmla="val 13500000"/>
                <a:gd name="adj2" fmla="val 10800000"/>
                <a:gd name="adj3" fmla="val 1274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Ctr="0"/>
            <a:lstStyle/>
            <a:p>
              <a:pPr algn="l"/>
            </a:p>
          </p:txBody>
        </p:sp>
        <p:sp>
          <p:nvSpPr>
            <p:cNvPr id="2" name="Title" descr="5f9a474e-82e6-4a4e-9f9b-269456a53b2a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图示并说明用户操作指令如何与数据库进行交互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16" name="组合 15" descr="a7eb182c-ec97-4592-8007-0bfbf4286b19"/>
            <p:cNvGrpSpPr/>
            <p:nvPr/>
          </p:nvGrpSpPr>
          <p:grpSpPr>
            <a:xfrm>
              <a:off x="5819848" y="1689583"/>
              <a:ext cx="4880809" cy="1213280"/>
              <a:chOff x="5819848" y="1689583"/>
              <a:chExt cx="4880809" cy="1213280"/>
            </a:xfrm>
          </p:grpSpPr>
          <p:sp>
            <p:nvSpPr>
              <p:cNvPr id="36" name="Text1" descr="ae62ba42-ccc4-493e-86d7-a6713c34a4e9"/>
              <p:cNvSpPr/>
              <p:nvPr/>
            </p:nvSpPr>
            <p:spPr>
              <a:xfrm>
                <a:off x="7226139" y="2091199"/>
                <a:ext cx="3474518" cy="811664"/>
              </a:xfrm>
              <a:prstGeom prst="roundRect">
                <a:avLst>
                  <a:gd name="adj" fmla="val 10898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80000" tIns="72000" rIns="180000" bIns="72000" numCol="1" spcCol="127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用户在客户端界面上执行增删改查等操作，如录入一条学生信息。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1" name="Number1" descr="23974119-c2b8-4676-8a9a-4c376b63c3eb"/>
              <p:cNvSpPr/>
              <p:nvPr/>
            </p:nvSpPr>
            <p:spPr>
              <a:xfrm>
                <a:off x="5819848" y="2313263"/>
                <a:ext cx="744013" cy="371841"/>
              </a:xfrm>
              <a:custGeom>
                <a:avLst/>
                <a:gdLst>
                  <a:gd name="connsiteX0" fmla="*/ 0 w 865774"/>
                  <a:gd name="connsiteY0" fmla="*/ 0 h 432694"/>
                  <a:gd name="connsiteX1" fmla="*/ 865774 w 865774"/>
                  <a:gd name="connsiteY1" fmla="*/ 0 h 432694"/>
                  <a:gd name="connsiteX2" fmla="*/ 865774 w 865774"/>
                  <a:gd name="connsiteY2" fmla="*/ 432694 h 432694"/>
                  <a:gd name="connsiteX3" fmla="*/ 0 w 865774"/>
                  <a:gd name="connsiteY3" fmla="*/ 432694 h 432694"/>
                  <a:gd name="connsiteX4" fmla="*/ 0 w 865774"/>
                  <a:gd name="connsiteY4" fmla="*/ 0 h 432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5774" h="432694">
                    <a:moveTo>
                      <a:pt x="0" y="0"/>
                    </a:moveTo>
                    <a:lnTo>
                      <a:pt x="865774" y="0"/>
                    </a:lnTo>
                    <a:lnTo>
                      <a:pt x="865774" y="432694"/>
                    </a:lnTo>
                    <a:lnTo>
                      <a:pt x="0" y="432694"/>
                    </a:ln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2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2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2700" tIns="12700" rIns="12700" bIns="12700" numCol="1" spcCol="127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000" b="0" i="0" u="none">
                    <a:solidFill>
                      <a:srgbClr val="0236DE"/>
                    </a:solidFill>
                    <a:latin typeface="Arial" panose="020B0604020202020204"/>
                  </a:rPr>
                  <a:t>01</a:t>
                </a:r>
                <a:endParaRPr lang="en-US" sz="2000" b="0" i="0" u="none">
                  <a:solidFill>
                    <a:srgbClr val="0236DE"/>
                  </a:solidFill>
                  <a:latin typeface="Arial" panose="020B0604020202020204"/>
                </a:endParaRPr>
              </a:p>
            </p:txBody>
          </p:sp>
          <p:sp>
            <p:nvSpPr>
              <p:cNvPr id="5" name="Bullet1" descr="763768c3-4f4c-40a5-9715-88513d42d21b"/>
              <p:cNvSpPr txBox="1"/>
              <p:nvPr/>
            </p:nvSpPr>
            <p:spPr bwMode="auto">
              <a:xfrm>
                <a:off x="7226139" y="1689583"/>
                <a:ext cx="3474518" cy="40161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用户操作界面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7" name="组合 16" descr="bf04de60-1611-4490-b7b0-d47cfa02b183"/>
            <p:cNvGrpSpPr/>
            <p:nvPr/>
          </p:nvGrpSpPr>
          <p:grpSpPr>
            <a:xfrm>
              <a:off x="1491343" y="2461051"/>
              <a:ext cx="4700636" cy="1212930"/>
              <a:chOff x="1491343" y="2461051"/>
              <a:chExt cx="4700636" cy="1212930"/>
            </a:xfrm>
          </p:grpSpPr>
          <p:sp>
            <p:nvSpPr>
              <p:cNvPr id="44" name="Text2" descr="7326c844-57ab-42c0-9055-d2bb7f99384c"/>
              <p:cNvSpPr/>
              <p:nvPr/>
            </p:nvSpPr>
            <p:spPr>
              <a:xfrm>
                <a:off x="1491343" y="2862317"/>
                <a:ext cx="3474518" cy="811664"/>
              </a:xfrm>
              <a:prstGeom prst="roundRect">
                <a:avLst>
                  <a:gd name="adj" fmla="val 10898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80000" tIns="72000" rIns="180000" bIns="72000" numCol="1" spcCol="127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接收用户请求，进行业务规则校验（如学号唯一性），组装SQL语句。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3" name="Number2" descr="99f8011b-168c-4266-9abd-c7fd5aa75477"/>
              <p:cNvSpPr/>
              <p:nvPr/>
            </p:nvSpPr>
            <p:spPr>
              <a:xfrm>
                <a:off x="5447966" y="3081045"/>
                <a:ext cx="744013" cy="371841"/>
              </a:xfrm>
              <a:custGeom>
                <a:avLst/>
                <a:gdLst>
                  <a:gd name="connsiteX0" fmla="*/ 0 w 865774"/>
                  <a:gd name="connsiteY0" fmla="*/ 0 h 432694"/>
                  <a:gd name="connsiteX1" fmla="*/ 865774 w 865774"/>
                  <a:gd name="connsiteY1" fmla="*/ 0 h 432694"/>
                  <a:gd name="connsiteX2" fmla="*/ 865774 w 865774"/>
                  <a:gd name="connsiteY2" fmla="*/ 432694 h 432694"/>
                  <a:gd name="connsiteX3" fmla="*/ 0 w 865774"/>
                  <a:gd name="connsiteY3" fmla="*/ 432694 h 432694"/>
                  <a:gd name="connsiteX4" fmla="*/ 0 w 865774"/>
                  <a:gd name="connsiteY4" fmla="*/ 0 h 432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5774" h="432694">
                    <a:moveTo>
                      <a:pt x="0" y="0"/>
                    </a:moveTo>
                    <a:lnTo>
                      <a:pt x="865774" y="0"/>
                    </a:lnTo>
                    <a:lnTo>
                      <a:pt x="865774" y="432694"/>
                    </a:lnTo>
                    <a:lnTo>
                      <a:pt x="0" y="432694"/>
                    </a:ln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2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2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2700" tIns="12700" rIns="12700" bIns="12700" numCol="1" spcCol="127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000" b="0" i="0" u="none">
                    <a:solidFill>
                      <a:srgbClr val="000000"/>
                    </a:solidFill>
                    <a:latin typeface="Arial" panose="020B0604020202020204"/>
                  </a:rPr>
                  <a:t>02</a:t>
                </a:r>
                <a:endParaRPr lang="en-US" sz="2000" b="0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6" name="Bullet2" descr="74ebeca2-e874-4eb5-ab66-3157a815cb72"/>
              <p:cNvSpPr txBox="1"/>
              <p:nvPr/>
            </p:nvSpPr>
            <p:spPr bwMode="auto">
              <a:xfrm>
                <a:off x="1491343" y="2461051"/>
                <a:ext cx="3474518" cy="40161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业务逻辑层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8" name="组合 17" descr="010b577d-abf6-4a20-98c4-f91927a8c015"/>
            <p:cNvGrpSpPr/>
            <p:nvPr/>
          </p:nvGrpSpPr>
          <p:grpSpPr>
            <a:xfrm>
              <a:off x="5819848" y="3237967"/>
              <a:ext cx="4880809" cy="1207132"/>
              <a:chOff x="5819848" y="3237967"/>
              <a:chExt cx="4880809" cy="1207132"/>
            </a:xfrm>
          </p:grpSpPr>
          <p:sp>
            <p:nvSpPr>
              <p:cNvPr id="40" name="Text3" descr="9d9f384e-4d6e-4863-a74c-ea5eb7391634"/>
              <p:cNvSpPr/>
              <p:nvPr/>
            </p:nvSpPr>
            <p:spPr>
              <a:xfrm>
                <a:off x="7226139" y="3633435"/>
                <a:ext cx="3474518" cy="811664"/>
              </a:xfrm>
              <a:prstGeom prst="roundRect">
                <a:avLst>
                  <a:gd name="adj" fmla="val 10898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80000" tIns="72000" rIns="180000" bIns="72000" numCol="1" spcCol="127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通过JDBC驱动将SQL语句发送给数据库服务器，并接收执行结果。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5" name="Number3" descr="10544be4-1862-4b7c-b314-e8899e275873"/>
              <p:cNvSpPr/>
              <p:nvPr/>
            </p:nvSpPr>
            <p:spPr>
              <a:xfrm>
                <a:off x="5819848" y="3848397"/>
                <a:ext cx="744013" cy="371841"/>
              </a:xfrm>
              <a:custGeom>
                <a:avLst/>
                <a:gdLst>
                  <a:gd name="connsiteX0" fmla="*/ 0 w 865774"/>
                  <a:gd name="connsiteY0" fmla="*/ 0 h 432694"/>
                  <a:gd name="connsiteX1" fmla="*/ 865774 w 865774"/>
                  <a:gd name="connsiteY1" fmla="*/ 0 h 432694"/>
                  <a:gd name="connsiteX2" fmla="*/ 865774 w 865774"/>
                  <a:gd name="connsiteY2" fmla="*/ 432694 h 432694"/>
                  <a:gd name="connsiteX3" fmla="*/ 0 w 865774"/>
                  <a:gd name="connsiteY3" fmla="*/ 432694 h 432694"/>
                  <a:gd name="connsiteX4" fmla="*/ 0 w 865774"/>
                  <a:gd name="connsiteY4" fmla="*/ 0 h 432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5774" h="432694">
                    <a:moveTo>
                      <a:pt x="0" y="0"/>
                    </a:moveTo>
                    <a:lnTo>
                      <a:pt x="865774" y="0"/>
                    </a:lnTo>
                    <a:lnTo>
                      <a:pt x="865774" y="432694"/>
                    </a:lnTo>
                    <a:lnTo>
                      <a:pt x="0" y="432694"/>
                    </a:ln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2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2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2700" tIns="12700" rIns="12700" bIns="12700" numCol="1" spcCol="127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000" b="0" i="0" u="none">
                    <a:solidFill>
                      <a:srgbClr val="0236DE"/>
                    </a:solidFill>
                    <a:latin typeface="Arial" panose="020B0604020202020204"/>
                  </a:rPr>
                  <a:t>03</a:t>
                </a:r>
                <a:endParaRPr lang="en-US" sz="2000" b="0" i="0" u="none">
                  <a:solidFill>
                    <a:srgbClr val="0236DE"/>
                  </a:solidFill>
                  <a:latin typeface="Arial" panose="020B0604020202020204"/>
                </a:endParaRPr>
              </a:p>
            </p:txBody>
          </p:sp>
          <p:sp>
            <p:nvSpPr>
              <p:cNvPr id="7" name="Bullet3" descr="e5c1de69-414d-4231-be4e-4387e33d5bab"/>
              <p:cNvSpPr txBox="1"/>
              <p:nvPr/>
            </p:nvSpPr>
            <p:spPr bwMode="auto">
              <a:xfrm>
                <a:off x="7226139" y="3237967"/>
                <a:ext cx="3474518" cy="40161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数据库访问层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5" name="组合 14" descr="9b8c11c3-6e40-45b5-8b98-c33921caa925"/>
            <p:cNvGrpSpPr/>
            <p:nvPr/>
          </p:nvGrpSpPr>
          <p:grpSpPr>
            <a:xfrm>
              <a:off x="1491343" y="4002937"/>
              <a:ext cx="4700636" cy="1213280"/>
              <a:chOff x="1491343" y="4002937"/>
              <a:chExt cx="4700636" cy="1213280"/>
            </a:xfrm>
          </p:grpSpPr>
          <p:sp>
            <p:nvSpPr>
              <p:cNvPr id="43" name="Text4" descr="afaa4df5-1440-4938-8346-e1b10a04cfe7"/>
              <p:cNvSpPr/>
              <p:nvPr/>
            </p:nvSpPr>
            <p:spPr>
              <a:xfrm>
                <a:off x="1491343" y="4404553"/>
                <a:ext cx="3474518" cy="811664"/>
              </a:xfrm>
              <a:prstGeom prst="roundRect">
                <a:avLst>
                  <a:gd name="adj" fmla="val 10898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80000" tIns="72000" rIns="180000" bIns="72000" numCol="1" spcCol="127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执行SQL语句，完成数据的增删改查操作，并返回结果给应用层。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8" name="Number4" descr="6cf588f5-ed95-4ebf-b787-c9bc13344b39"/>
              <p:cNvSpPr/>
              <p:nvPr/>
            </p:nvSpPr>
            <p:spPr>
              <a:xfrm>
                <a:off x="5447966" y="4616180"/>
                <a:ext cx="744013" cy="371841"/>
              </a:xfrm>
              <a:custGeom>
                <a:avLst/>
                <a:gdLst>
                  <a:gd name="connsiteX0" fmla="*/ 0 w 865774"/>
                  <a:gd name="connsiteY0" fmla="*/ 0 h 432694"/>
                  <a:gd name="connsiteX1" fmla="*/ 865774 w 865774"/>
                  <a:gd name="connsiteY1" fmla="*/ 0 h 432694"/>
                  <a:gd name="connsiteX2" fmla="*/ 865774 w 865774"/>
                  <a:gd name="connsiteY2" fmla="*/ 432694 h 432694"/>
                  <a:gd name="connsiteX3" fmla="*/ 0 w 865774"/>
                  <a:gd name="connsiteY3" fmla="*/ 432694 h 432694"/>
                  <a:gd name="connsiteX4" fmla="*/ 0 w 865774"/>
                  <a:gd name="connsiteY4" fmla="*/ 0 h 432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5774" h="432694">
                    <a:moveTo>
                      <a:pt x="0" y="0"/>
                    </a:moveTo>
                    <a:lnTo>
                      <a:pt x="865774" y="0"/>
                    </a:lnTo>
                    <a:lnTo>
                      <a:pt x="865774" y="432694"/>
                    </a:lnTo>
                    <a:lnTo>
                      <a:pt x="0" y="432694"/>
                    </a:ln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2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2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000" b="0" i="0" u="none">
                    <a:solidFill>
                      <a:srgbClr val="000000"/>
                    </a:solidFill>
                    <a:latin typeface="Arial" panose="020B0604020202020204"/>
                  </a:rPr>
                  <a:t>04</a:t>
                </a:r>
                <a:endParaRPr lang="en-US" sz="2000" b="0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8" name="Bullet4" descr="0c6e342c-fe34-4863-b8fb-509209ad4d3f"/>
              <p:cNvSpPr txBox="1"/>
              <p:nvPr/>
            </p:nvSpPr>
            <p:spPr bwMode="auto">
              <a:xfrm>
                <a:off x="1491343" y="4002937"/>
                <a:ext cx="3474518" cy="40161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数据库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9" name="组合 18" descr="a9513e0f-23b4-4f15-908f-6c0605f3e7ed"/>
            <p:cNvGrpSpPr/>
            <p:nvPr/>
          </p:nvGrpSpPr>
          <p:grpSpPr>
            <a:xfrm>
              <a:off x="5819848" y="4774054"/>
              <a:ext cx="4880809" cy="1213280"/>
              <a:chOff x="5819848" y="4774054"/>
              <a:chExt cx="4880809" cy="1213280"/>
            </a:xfrm>
          </p:grpSpPr>
          <p:sp>
            <p:nvSpPr>
              <p:cNvPr id="42" name="Text5" descr="670715dd-b1c1-4055-b6fb-060e5ab693c2"/>
              <p:cNvSpPr/>
              <p:nvPr/>
            </p:nvSpPr>
            <p:spPr>
              <a:xfrm>
                <a:off x="7226139" y="5175670"/>
                <a:ext cx="3474518" cy="811664"/>
              </a:xfrm>
              <a:prstGeom prst="roundRect">
                <a:avLst>
                  <a:gd name="adj" fmla="val 10898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80000" tIns="72000" rIns="180000" bIns="72000" numCol="1" spcCol="127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200" b="0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业务逻辑层将数据库返回的结果处理后，展示在用户操作界面上，完成一次交互流程。</a:t>
                </a:r>
                <a:endParaRPr lang="en-US" sz="1200" b="0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5" name="Number5" descr="a9b89db1-6385-45e8-bb8b-2a48468d2de7"/>
              <p:cNvSpPr/>
              <p:nvPr/>
            </p:nvSpPr>
            <p:spPr>
              <a:xfrm>
                <a:off x="5819848" y="5383963"/>
                <a:ext cx="744013" cy="371841"/>
              </a:xfrm>
              <a:custGeom>
                <a:avLst/>
                <a:gdLst>
                  <a:gd name="connsiteX0" fmla="*/ 0 w 865774"/>
                  <a:gd name="connsiteY0" fmla="*/ 0 h 432694"/>
                  <a:gd name="connsiteX1" fmla="*/ 865774 w 865774"/>
                  <a:gd name="connsiteY1" fmla="*/ 0 h 432694"/>
                  <a:gd name="connsiteX2" fmla="*/ 865774 w 865774"/>
                  <a:gd name="connsiteY2" fmla="*/ 432694 h 432694"/>
                  <a:gd name="connsiteX3" fmla="*/ 0 w 865774"/>
                  <a:gd name="connsiteY3" fmla="*/ 432694 h 432694"/>
                  <a:gd name="connsiteX4" fmla="*/ 0 w 865774"/>
                  <a:gd name="connsiteY4" fmla="*/ 0 h 432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5774" h="432694">
                    <a:moveTo>
                      <a:pt x="0" y="0"/>
                    </a:moveTo>
                    <a:lnTo>
                      <a:pt x="865774" y="0"/>
                    </a:lnTo>
                    <a:lnTo>
                      <a:pt x="865774" y="432694"/>
                    </a:lnTo>
                    <a:lnTo>
                      <a:pt x="0" y="432694"/>
                    </a:lnTo>
                    <a:lnTo>
                      <a:pt x="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2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2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000" b="0" i="0" u="none">
                    <a:solidFill>
                      <a:srgbClr val="0236DE"/>
                    </a:solidFill>
                    <a:latin typeface="Arial" panose="020B0604020202020204"/>
                  </a:rPr>
                  <a:t>05</a:t>
                </a:r>
                <a:endParaRPr lang="en-US" sz="2000" b="0" i="0" u="none">
                  <a:solidFill>
                    <a:srgbClr val="0236DE"/>
                  </a:solidFill>
                  <a:latin typeface="Arial" panose="020B0604020202020204"/>
                </a:endParaRPr>
              </a:p>
            </p:txBody>
          </p:sp>
          <p:sp>
            <p:nvSpPr>
              <p:cNvPr id="9" name="Bullet5" descr="cf8878dd-02f6-44f8-a595-3cf4deb3cf90"/>
              <p:cNvSpPr txBox="1"/>
              <p:nvPr/>
            </p:nvSpPr>
            <p:spPr bwMode="auto">
              <a:xfrm>
                <a:off x="7226139" y="4774054"/>
                <a:ext cx="3474518" cy="40161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流程闭环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3" name="标题 2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数据交互流程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4ba0520-b3a6-4c53-82c4-5f3fcfccff0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 panose="020B0503020204020204" charset="-122"/>
              </a:rPr>
              <a:t>系统设计亮点</a:t>
            </a:r>
            <a:endParaRPr lang="en-US" sz="36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80b90c15-9122-40e0-9afe-3acbf0504dba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 panose="020B0503020204020204" charset="-122"/>
              </a:rPr>
              <a:t>深入剖析系统中的创新性设计与思考，展示系统的与众不同之处。</a:t>
            </a:r>
            <a:endParaRPr lang="en-US" sz="16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98e93784-4100-42d0-86e5-09414daf8fa3.source.2.zh-Hans.pptx" descr="1df638ff-4180-4e84-9653-7d0af8257372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cxnSp>
          <p:nvCxnSpPr>
            <p:cNvPr id="21" name="直接连接符 20" descr="772da85c-13ca-45f4-a422-cff7ec80a229"/>
            <p:cNvCxnSpPr/>
            <p:nvPr/>
          </p:nvCxnSpPr>
          <p:spPr>
            <a:xfrm>
              <a:off x="6089650" y="1130300"/>
              <a:ext cx="0" cy="5003800"/>
            </a:xfrm>
            <a:prstGeom prst="line">
              <a:avLst/>
            </a:prstGeom>
            <a:ln w="6350" cap="rnd">
              <a:solidFill>
                <a:schemeClr val="tx1">
                  <a:alpha val="50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组合 29" descr="1e3a31b6-0a0d-42fe-8af3-9fa5be2b5dd6"/>
            <p:cNvGrpSpPr/>
            <p:nvPr/>
          </p:nvGrpSpPr>
          <p:grpSpPr>
            <a:xfrm>
              <a:off x="4902200" y="2419350"/>
              <a:ext cx="2374900" cy="2425700"/>
              <a:chOff x="4766310" y="1812201"/>
              <a:chExt cx="2646680" cy="3639999"/>
            </a:xfrm>
          </p:grpSpPr>
          <p:sp>
            <p:nvSpPr>
              <p:cNvPr id="28" name="矩形: 圆角 27" descr="722527c4-a380-4b1c-89be-b4b90d638c47"/>
              <p:cNvSpPr/>
              <p:nvPr/>
            </p:nvSpPr>
            <p:spPr>
              <a:xfrm>
                <a:off x="4766310" y="1812201"/>
                <a:ext cx="2646680" cy="3639999"/>
              </a:xfrm>
              <a:prstGeom prst="roundRect">
                <a:avLst>
                  <a:gd name="adj" fmla="val 6734"/>
                </a:avLst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29" name="Title" descr="8698f634-57a7-459d-bb26-34e764a1c745"/>
              <p:cNvSpPr/>
              <p:nvPr/>
            </p:nvSpPr>
            <p:spPr>
              <a:xfrm>
                <a:off x="4932681" y="2057400"/>
                <a:ext cx="2313940" cy="3149600"/>
              </a:xfrm>
              <a:prstGeom prst="roundRect">
                <a:avLst>
                  <a:gd name="adj" fmla="val 8206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l"/>
                <a:r>
                  <a:rPr lang="en-US" sz="24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从应用层与数据库层构建双重防线，保障数据质量</a:t>
                </a:r>
                <a:endParaRPr lang="en-US" sz="24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27" name="组合 26" descr="ce54118e-0535-4d4c-a682-8ff9d968fa5e"/>
            <p:cNvGrpSpPr/>
            <p:nvPr/>
          </p:nvGrpSpPr>
          <p:grpSpPr>
            <a:xfrm>
              <a:off x="660400" y="1130300"/>
              <a:ext cx="4140200" cy="5003799"/>
              <a:chOff x="660400" y="1130300"/>
              <a:chExt cx="4140200" cy="5003799"/>
            </a:xfrm>
          </p:grpSpPr>
          <p:sp>
            <p:nvSpPr>
              <p:cNvPr id="24" name="Number1" descr="b300258e-1ff4-43a5-a09b-70dc22f93098"/>
              <p:cNvSpPr/>
              <p:nvPr/>
            </p:nvSpPr>
            <p:spPr>
              <a:xfrm flipH="1">
                <a:off x="660400" y="1130300"/>
                <a:ext cx="472502" cy="472662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0236DE"/>
                    </a:solidFill>
                    <a:latin typeface="Arial" panose="020B0604020202020204"/>
                  </a:rPr>
                  <a:t>1.</a:t>
                </a:r>
                <a:endParaRPr lang="en-US" sz="1600" b="0" i="0" u="none">
                  <a:solidFill>
                    <a:srgbClr val="0236DE"/>
                  </a:solidFill>
                  <a:latin typeface="Arial" panose="020B0604020202020204"/>
                </a:endParaRPr>
              </a:p>
            </p:txBody>
          </p:sp>
          <p:sp>
            <p:nvSpPr>
              <p:cNvPr id="25" name="Bullet1" descr="79ea5699-643a-4cb5-a990-df2ea0618ec4"/>
              <p:cNvSpPr txBox="1"/>
              <p:nvPr/>
            </p:nvSpPr>
            <p:spPr>
              <a:xfrm>
                <a:off x="1158302" y="1130300"/>
                <a:ext cx="36422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应用层校验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6" name="Text1" descr="c5c94d41-599b-49a5-a288-7c0bd78bcd46"/>
              <p:cNvSpPr txBox="1"/>
              <p:nvPr/>
            </p:nvSpPr>
            <p:spPr>
              <a:xfrm>
                <a:off x="1158302" y="1602960"/>
                <a:ext cx="3642298" cy="45311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在数据提交前，通过前端JavaScript和后端Java代码对输入数据进行实时校验。例如，选课时校验“学生是否重复选课”、“该教师是否主讲此课程”；录入时校验年龄、性别、学历等字段的格式与范围。</a:t>
                </a:r>
                <a:endParaRPr lang="en-US" sz="12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3" name="组合 2" descr="d25e9d3d-4eaa-45e4-9206-0cd840afb24a"/>
            <p:cNvGrpSpPr/>
            <p:nvPr/>
          </p:nvGrpSpPr>
          <p:grpSpPr>
            <a:xfrm>
              <a:off x="7378700" y="1130300"/>
              <a:ext cx="4140200" cy="5003799"/>
              <a:chOff x="660400" y="1130300"/>
              <a:chExt cx="4140200" cy="5003799"/>
            </a:xfrm>
          </p:grpSpPr>
          <p:sp>
            <p:nvSpPr>
              <p:cNvPr id="4" name="Number2" descr="91834de0-7ae6-4dd3-b2b4-b96db33b3ad1"/>
              <p:cNvSpPr/>
              <p:nvPr/>
            </p:nvSpPr>
            <p:spPr>
              <a:xfrm flipH="1">
                <a:off x="660400" y="1130300"/>
                <a:ext cx="472502" cy="472662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0236DE"/>
                    </a:solidFill>
                    <a:latin typeface="Arial" panose="020B0604020202020204"/>
                  </a:rPr>
                  <a:t>2.</a:t>
                </a:r>
                <a:endParaRPr lang="en-US" sz="1600" b="0" i="0" u="none">
                  <a:solidFill>
                    <a:srgbClr val="0236DE"/>
                  </a:solidFill>
                  <a:latin typeface="Arial" panose="020B0604020202020204"/>
                </a:endParaRPr>
              </a:p>
            </p:txBody>
          </p:sp>
          <p:sp>
            <p:nvSpPr>
              <p:cNvPr id="5" name="Bullet2" descr="110debc5-2ba2-4494-8713-3ce54e7643c0"/>
              <p:cNvSpPr txBox="1"/>
              <p:nvPr/>
            </p:nvSpPr>
            <p:spPr>
              <a:xfrm>
                <a:off x="1158302" y="1130300"/>
                <a:ext cx="36422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数据库层约束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6" name="Text2" descr="cddca5d9-2da0-4398-93b7-7f4de078e1a3"/>
              <p:cNvSpPr txBox="1"/>
              <p:nvPr/>
            </p:nvSpPr>
            <p:spPr>
              <a:xfrm>
                <a:off x="1158302" y="1602960"/>
                <a:ext cx="3642298" cy="45311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在数据库层面，利用主键、外键约束确保实体与参照完整性（如选课表关联学生、课程、教师表）。同时，使用CHECK约束在数据库层面强制实施业务规则，如年龄范围、性别枚举值等，构成数据守护的最终防线。</a:t>
                </a:r>
                <a:endParaRPr lang="en-US" sz="12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双重数据完整性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e879a752-9be4-47c0-a361-228ab7e229d2.source.2.zh-Hans.pptx" descr="dfda6be7-f83a-4ba0-810f-bc69a5a802be"/>
          <p:cNvGrpSpPr/>
          <p:nvPr/>
        </p:nvGrpSpPr>
        <p:grpSpPr>
          <a:xfrm>
            <a:off x="660400" y="1141397"/>
            <a:ext cx="10858500" cy="4992703"/>
            <a:chOff x="660400" y="1141397"/>
            <a:chExt cx="10858500" cy="4992703"/>
          </a:xfrm>
        </p:grpSpPr>
        <p:grpSp>
          <p:nvGrpSpPr>
            <p:cNvPr id="2" name="组合 1" descr="acc512b5-ae6b-49d5-b8c2-b372f75f526c"/>
            <p:cNvGrpSpPr/>
            <p:nvPr/>
          </p:nvGrpSpPr>
          <p:grpSpPr>
            <a:xfrm>
              <a:off x="660400" y="1141397"/>
              <a:ext cx="10858500" cy="4992703"/>
              <a:chOff x="660400" y="1141397"/>
              <a:chExt cx="10858500" cy="4992703"/>
            </a:xfrm>
          </p:grpSpPr>
          <p:sp>
            <p:nvSpPr>
              <p:cNvPr id="14" name="Title" descr="cb4a9a5a-8dc7-4bc0-9fb6-20c918c553d5"/>
              <p:cNvSpPr/>
              <p:nvPr/>
            </p:nvSpPr>
            <p:spPr>
              <a:xfrm>
                <a:off x="660400" y="1141397"/>
                <a:ext cx="10858500" cy="853692"/>
              </a:xfrm>
              <a:prstGeom prst="roundRect">
                <a:avLst>
                  <a:gd name="adj" fmla="val 14472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l"/>
                <a:r>
                  <a:rPr lang="en-US" sz="24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提供灵活、高效、友好的信息检索体验</a:t>
                </a:r>
                <a:endParaRPr lang="en-US" sz="24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grpSp>
            <p:nvGrpSpPr>
              <p:cNvPr id="20" name="组合 19" descr="126c4f87-2218-4a14-86eb-ca3fba3edafd"/>
              <p:cNvGrpSpPr/>
              <p:nvPr/>
            </p:nvGrpSpPr>
            <p:grpSpPr>
              <a:xfrm>
                <a:off x="660400" y="3347035"/>
                <a:ext cx="5187952" cy="2787065"/>
                <a:chOff x="660400" y="3347035"/>
                <a:chExt cx="5187952" cy="2787065"/>
              </a:xfrm>
            </p:grpSpPr>
            <p:sp>
              <p:nvSpPr>
                <p:cNvPr id="3" name="Bullet1" descr="a12fbdf4-9a2a-421a-aeed-3d5bd0c30b16"/>
                <p:cNvSpPr/>
                <p:nvPr/>
              </p:nvSpPr>
              <p:spPr>
                <a:xfrm flipH="1">
                  <a:off x="1116067" y="3347035"/>
                  <a:ext cx="4732284" cy="438390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灵活查询模式</a:t>
                  </a:r>
                  <a:endPara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" name="Text1" descr="ebd4d7b6-8511-4772-923f-81f974742075"/>
                <p:cNvSpPr txBox="1"/>
                <p:nvPr/>
              </p:nvSpPr>
              <p:spPr>
                <a:xfrm>
                  <a:off x="1116068" y="3886200"/>
                  <a:ext cx="4732284" cy="2247900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支持单条件精准查询（如按学号查学生）和多条件复合查询（如“查询计算机系所有男生的选课情况”）。系统内置多种查询条件组合方式，满足不同场景下的信息检索需求。</a:t>
                  </a:r>
                  <a:endPara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5" name="Number1" descr="2619ef2e-7afc-475e-8bf7-ef33c392612e"/>
                <p:cNvSpPr/>
                <p:nvPr/>
              </p:nvSpPr>
              <p:spPr>
                <a:xfrm>
                  <a:off x="660400" y="3347035"/>
                  <a:ext cx="455665" cy="457200"/>
                </a:xfrm>
                <a:prstGeom prst="ellipse">
                  <a:avLst/>
                </a:prstGeom>
                <a:solidFill>
                  <a:schemeClr val="accent1"/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1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1</a:t>
                  </a:r>
                  <a:endParaRPr lang="en-US" sz="1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21" name="组合 20" descr="7fd1e9ed-95db-47a5-9b92-7ed44afca9c6"/>
              <p:cNvGrpSpPr/>
              <p:nvPr/>
            </p:nvGrpSpPr>
            <p:grpSpPr>
              <a:xfrm>
                <a:off x="6330948" y="3347035"/>
                <a:ext cx="5187952" cy="2787065"/>
                <a:chOff x="6330948" y="3347035"/>
                <a:chExt cx="5187952" cy="2787065"/>
              </a:xfrm>
            </p:grpSpPr>
            <p:sp>
              <p:nvSpPr>
                <p:cNvPr id="7" name="Bullet2" descr="848d135e-f359-4dcc-8bb6-afac4c5285e7"/>
                <p:cNvSpPr/>
                <p:nvPr/>
              </p:nvSpPr>
              <p:spPr>
                <a:xfrm flipH="1">
                  <a:off x="6786615" y="3347035"/>
                  <a:ext cx="4732284" cy="438390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关联信息直观呈现</a:t>
                  </a:r>
                  <a:endPara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8" name="Text2" descr="bebda556-424f-44a6-83e3-6e21a6cfcdd0"/>
                <p:cNvSpPr txBox="1"/>
                <p:nvPr/>
              </p:nvSpPr>
              <p:spPr>
                <a:xfrm>
                  <a:off x="6786616" y="3886200"/>
                  <a:ext cx="4732284" cy="2247900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在查询结果中，直接显示关联实体的名称而非编号。例如，查询学生选课信息时，结果显示“计算机科学系”而不是“001”，降低了用户对编码的记忆负担，使查询结果更易于理解。</a:t>
                  </a:r>
                  <a:endPara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9" name="Number2" descr="5852bf53-3db7-47dd-9a42-565e7b076293"/>
                <p:cNvSpPr/>
                <p:nvPr/>
              </p:nvSpPr>
              <p:spPr>
                <a:xfrm>
                  <a:off x="6330948" y="3347035"/>
                  <a:ext cx="455665" cy="457200"/>
                </a:xfrm>
                <a:prstGeom prst="ellipse">
                  <a:avLst/>
                </a:prstGeom>
                <a:solidFill>
                  <a:schemeClr val="accent1"/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1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2</a:t>
                  </a:r>
                  <a:endParaRPr lang="en-US" sz="1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</p:grpSp>
        <p:cxnSp>
          <p:nvCxnSpPr>
            <p:cNvPr id="16" name="连接符: 肘形 15" descr="b5d0e2f0-714e-4f41-9d1b-c51be267c1b9"/>
            <p:cNvCxnSpPr>
              <a:stCxn id="5" idx="0"/>
              <a:endCxn id="9" idx="0"/>
            </p:cNvCxnSpPr>
            <p:nvPr/>
          </p:nvCxnSpPr>
          <p:spPr>
            <a:xfrm rot="5400000" flipH="1" flipV="1">
              <a:off x="3723507" y="511761"/>
              <a:ext cx="12700" cy="5670548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标题 9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智能化查询体系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31db00da-9fb8-423b-a3b5-3fab5170efcf.source.2.zh-Hans.pptx" descr="e735ad37-0690-4da2-978a-c8d75cb3bcae"/>
          <p:cNvGrpSpPr/>
          <p:nvPr/>
        </p:nvGrpSpPr>
        <p:grpSpPr>
          <a:xfrm>
            <a:off x="684322" y="1130300"/>
            <a:ext cx="10834578" cy="5043416"/>
            <a:chOff x="684322" y="1130300"/>
            <a:chExt cx="10834578" cy="5043416"/>
          </a:xfrm>
        </p:grpSpPr>
        <p:sp>
          <p:nvSpPr>
            <p:cNvPr id="15" name="Title" descr="b1d378ec-34d0-40d9-b5b0-6a6cb65a67e1"/>
            <p:cNvSpPr txBox="1"/>
            <p:nvPr/>
          </p:nvSpPr>
          <p:spPr>
            <a:xfrm>
              <a:off x="684322" y="1130300"/>
              <a:ext cx="10834578" cy="881380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为不同用户定制专属工作台，提升操作效率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19" name="组合 18" descr="5bbdc4d5-887b-4798-8c7a-ac63659b866e"/>
            <p:cNvGrpSpPr/>
            <p:nvPr/>
          </p:nvGrpSpPr>
          <p:grpSpPr>
            <a:xfrm>
              <a:off x="684322" y="2329609"/>
              <a:ext cx="5142582" cy="3844107"/>
              <a:chOff x="684322" y="2329609"/>
              <a:chExt cx="5142582" cy="3844107"/>
            </a:xfrm>
          </p:grpSpPr>
          <p:sp>
            <p:nvSpPr>
              <p:cNvPr id="3" name="Bullet1" descr="458b9f59-e62a-4af6-8d00-dca6a5c148eb"/>
              <p:cNvSpPr/>
              <p:nvPr/>
            </p:nvSpPr>
            <p:spPr bwMode="auto">
              <a:xfrm>
                <a:off x="684322" y="2329609"/>
                <a:ext cx="5142582" cy="497567"/>
              </a:xfrm>
              <a:prstGeom prst="rect">
                <a:avLst/>
              </a:prstGeom>
              <a:solidFill>
                <a:schemeClr val="accent1"/>
              </a:solidFill>
              <a:ln w="3175" algn="ctr">
                <a:solidFill>
                  <a:schemeClr val="accent1"/>
                </a:solidFill>
                <a:round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界面动态生成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7" name="Text1" descr="0653b5d8-a2f3-43a8-abc6-1534d434c942"/>
              <p:cNvSpPr/>
              <p:nvPr/>
            </p:nvSpPr>
            <p:spPr bwMode="auto">
              <a:xfrm>
                <a:off x="831302" y="3145105"/>
                <a:ext cx="4995602" cy="30286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用户登录后，系统根据其角色（管理员、教师、学生）从后台动态加载并生成完全不同的功能菜单和操作界面。无关的功能被自动隐藏，确保用户界面简洁、清晰。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20" name="组合 19" descr="71bd9299-b6e3-4665-9050-939086cf29cb"/>
            <p:cNvGrpSpPr/>
            <p:nvPr/>
          </p:nvGrpSpPr>
          <p:grpSpPr>
            <a:xfrm>
              <a:off x="6376318" y="2329609"/>
              <a:ext cx="5142582" cy="3804491"/>
              <a:chOff x="6376318" y="2329609"/>
              <a:chExt cx="5142582" cy="3804491"/>
            </a:xfrm>
          </p:grpSpPr>
          <p:sp>
            <p:nvSpPr>
              <p:cNvPr id="4" name="Bullet2" descr="df906b67-5a85-4419-82cc-fc7dddd1e1a9"/>
              <p:cNvSpPr/>
              <p:nvPr/>
            </p:nvSpPr>
            <p:spPr bwMode="auto">
              <a:xfrm>
                <a:off x="6376318" y="2329609"/>
                <a:ext cx="5142582" cy="497567"/>
              </a:xfrm>
              <a:prstGeom prst="rect">
                <a:avLst/>
              </a:prstGeom>
              <a:solidFill>
                <a:schemeClr val="accent1"/>
              </a:solidFill>
              <a:ln w="3175" algn="ctr">
                <a:solidFill>
                  <a:schemeClr val="accent1"/>
                </a:solidFill>
                <a:round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操作流程定制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8" name="Text2" descr="89425ed8-a6e3-4b59-a8f6-57989ff648c5"/>
              <p:cNvSpPr/>
              <p:nvPr/>
            </p:nvSpPr>
            <p:spPr bwMode="auto">
              <a:xfrm>
                <a:off x="6449808" y="3145105"/>
                <a:ext cx="4995602" cy="29889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系统为不同角色预设了最佳操作流程。学生流程聚焦于选课、查课表、查成绩；教师流程聚焦于管课程、看名单、录成绩；管理员流程则覆盖全方位数据维护与系统管理，提升了各角色用户的专注度与工作效率。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基于角色的动态界面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4ba0520-b3a6-4c53-82c4-5f3fcfccff0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 panose="020B0503020204020204" charset="-122"/>
              </a:rPr>
              <a:t>个人成长与总结</a:t>
            </a:r>
            <a:endParaRPr lang="en-US" sz="36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80b90c15-9122-40e0-9afe-3acbf0504dba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 panose="020B0503020204020204" charset="-122"/>
              </a:rPr>
              <a:t>分享在系统开发过程中的技术收获、遇到的问题及解决思路，并对系统未来进行展望。</a:t>
            </a:r>
            <a:endParaRPr lang="en-US" sz="16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720d478c-9421-4f0f-9cb9-00c560b38fe9.source.4.zh-Hans.pptx" descr="bcaf868f-d4f3-495f-8737-05313ae65610"/>
          <p:cNvGrpSpPr/>
          <p:nvPr/>
        </p:nvGrpSpPr>
        <p:grpSpPr>
          <a:xfrm>
            <a:off x="660400" y="1130301"/>
            <a:ext cx="10864850" cy="5003799"/>
            <a:chOff x="660400" y="1130301"/>
            <a:chExt cx="10864850" cy="5003799"/>
          </a:xfrm>
        </p:grpSpPr>
        <p:sp>
          <p:nvSpPr>
            <p:cNvPr id="49" name="Title" descr="b281ac56-607d-484f-a021-eb87d117a4bb"/>
            <p:cNvSpPr>
              <a:spLocks noChangeAspect="1"/>
            </p:cNvSpPr>
            <p:nvPr/>
          </p:nvSpPr>
          <p:spPr>
            <a:xfrm>
              <a:off x="666750" y="1130301"/>
              <a:ext cx="10858500" cy="546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总结通过本项目掌握的核心技术能力与编程思想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12" name="组合 11" descr="e827f9cc-f6e7-44e4-b3a9-6b2ae3d19329"/>
            <p:cNvGrpSpPr/>
            <p:nvPr/>
          </p:nvGrpSpPr>
          <p:grpSpPr>
            <a:xfrm>
              <a:off x="660400" y="1715072"/>
              <a:ext cx="5381905" cy="2175721"/>
              <a:chOff x="1143981" y="1715072"/>
              <a:chExt cx="5381905" cy="2175721"/>
            </a:xfrm>
          </p:grpSpPr>
          <p:grpSp>
            <p:nvGrpSpPr>
              <p:cNvPr id="10" name="组合 9" descr="15076b71-e016-41e0-a064-0e718ad8f266"/>
              <p:cNvGrpSpPr/>
              <p:nvPr/>
            </p:nvGrpSpPr>
            <p:grpSpPr>
              <a:xfrm>
                <a:off x="1362926" y="1715072"/>
                <a:ext cx="5162960" cy="2175721"/>
                <a:chOff x="660399" y="1715072"/>
                <a:chExt cx="5162960" cy="2175721"/>
              </a:xfrm>
            </p:grpSpPr>
            <p:sp>
              <p:nvSpPr>
                <p:cNvPr id="7" name="ComponentBackground1" descr="6b83bb35-3d40-4dea-ba10-369f98739851"/>
                <p:cNvSpPr/>
                <p:nvPr/>
              </p:nvSpPr>
              <p:spPr>
                <a:xfrm>
                  <a:off x="660399" y="1715072"/>
                  <a:ext cx="5162960" cy="2175721"/>
                </a:xfrm>
                <a:prstGeom prst="roundRect">
                  <a:avLst>
                    <a:gd name="adj" fmla="val 8000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id="8" name="Text1" descr="201b4eb2-7dfa-4efb-8e06-dec2f2f33648"/>
                <p:cNvSpPr/>
                <p:nvPr/>
              </p:nvSpPr>
              <p:spPr>
                <a:xfrm>
                  <a:off x="942123" y="2195528"/>
                  <a:ext cx="4832341" cy="15889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深入理解了桌面应用的事件驱动编程模型，学会了如何通过按钮点击、菜单选择等事件触发后台业务逻辑，构建交互式应用。</a:t>
                  </a:r>
                  <a:endPara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9" name="Bullet1" descr="98242a11-1f36-47b1-99fc-3b32ecd7331f"/>
                <p:cNvSpPr/>
                <p:nvPr/>
              </p:nvSpPr>
              <p:spPr>
                <a:xfrm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掌握事件驱动模型</a:t>
                  </a:r>
                  <a:endPara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11" name="Number1" descr="73eb28ed-ca09-4bee-b7df-a40245065737"/>
              <p:cNvSpPr/>
              <p:nvPr/>
            </p:nvSpPr>
            <p:spPr>
              <a:xfrm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FFFFFF"/>
                    </a:solidFill>
                    <a:latin typeface="Arial" panose="020B0604020202020204"/>
                  </a:rPr>
                  <a:t>1</a:t>
                </a:r>
                <a:endParaRPr lang="en-US" sz="16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13" name="组合 12" descr="39b27bd3-d8e5-4185-8a22-431296e32c46"/>
            <p:cNvGrpSpPr/>
            <p:nvPr/>
          </p:nvGrpSpPr>
          <p:grpSpPr>
            <a:xfrm>
              <a:off x="660400" y="3958379"/>
              <a:ext cx="5381905" cy="2175721"/>
              <a:chOff x="1143981" y="1715072"/>
              <a:chExt cx="5381905" cy="2175721"/>
            </a:xfrm>
          </p:grpSpPr>
          <p:grpSp>
            <p:nvGrpSpPr>
              <p:cNvPr id="14" name="组合 13" descr="7a7825d8-3b92-4cf4-9b20-d941a7a02342"/>
              <p:cNvGrpSpPr/>
              <p:nvPr/>
            </p:nvGrpSpPr>
            <p:grpSpPr>
              <a:xfrm>
                <a:off x="1362926" y="1715072"/>
                <a:ext cx="5162960" cy="2175721"/>
                <a:chOff x="660399" y="1715072"/>
                <a:chExt cx="5162960" cy="2175721"/>
              </a:xfrm>
            </p:grpSpPr>
            <p:sp>
              <p:nvSpPr>
                <p:cNvPr id="16" name="ComponentBackground2" descr="c34e1085-e2e6-4ff7-9aac-bf0174922524"/>
                <p:cNvSpPr/>
                <p:nvPr/>
              </p:nvSpPr>
              <p:spPr>
                <a:xfrm>
                  <a:off x="660399" y="1715072"/>
                  <a:ext cx="5162960" cy="2175721"/>
                </a:xfrm>
                <a:prstGeom prst="roundRect">
                  <a:avLst>
                    <a:gd name="adj" fmla="val 8000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id="17" name="Text2" descr="00a99a56-e074-46b7-b7a6-fdbd721716d7"/>
                <p:cNvSpPr/>
                <p:nvPr/>
              </p:nvSpPr>
              <p:spPr>
                <a:xfrm>
                  <a:off x="942123" y="2195528"/>
                  <a:ext cx="4832341" cy="15889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将项目代码清晰地划分为界面展示层、业务逻辑层、数据访问层，使系统结构更清晰，代码复用性更高，易于维护和扩展。</a:t>
                  </a:r>
                  <a:endPara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18" name="Bullet2" descr="c161ab1c-1854-4560-8e5c-49c7f24d5873"/>
                <p:cNvSpPr/>
                <p:nvPr/>
              </p:nvSpPr>
              <p:spPr>
                <a:xfrm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实践分层架构思想</a:t>
                  </a:r>
                  <a:endPara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15" name="Number2" descr="ec5befbd-b030-48f7-9ed7-d508cf170e59"/>
              <p:cNvSpPr/>
              <p:nvPr/>
            </p:nvSpPr>
            <p:spPr>
              <a:xfrm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FFFFFF"/>
                    </a:solidFill>
                    <a:latin typeface="Arial" panose="020B0604020202020204"/>
                  </a:rPr>
                  <a:t>2</a:t>
                </a:r>
                <a:endParaRPr lang="en-US" sz="16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33" name="组合 32" descr="740b7251-7773-458b-a8ec-b23b8bd34e2f"/>
            <p:cNvGrpSpPr/>
            <p:nvPr/>
          </p:nvGrpSpPr>
          <p:grpSpPr>
            <a:xfrm>
              <a:off x="6136995" y="1715072"/>
              <a:ext cx="5381905" cy="2175721"/>
              <a:chOff x="1143981" y="1715072"/>
              <a:chExt cx="5381905" cy="2175721"/>
            </a:xfrm>
          </p:grpSpPr>
          <p:grpSp>
            <p:nvGrpSpPr>
              <p:cNvPr id="34" name="组合 33" descr="8af775ff-4ab4-4d8b-b200-7394d285a81a"/>
              <p:cNvGrpSpPr/>
              <p:nvPr/>
            </p:nvGrpSpPr>
            <p:grpSpPr>
              <a:xfrm>
                <a:off x="1362926" y="1715072"/>
                <a:ext cx="5162960" cy="2175721"/>
                <a:chOff x="660399" y="1715072"/>
                <a:chExt cx="5162960" cy="2175721"/>
              </a:xfrm>
            </p:grpSpPr>
            <p:sp>
              <p:nvSpPr>
                <p:cNvPr id="36" name="ComponentBackground3" descr="1b24d2d8-311f-4e53-a71f-fae5481cc3c0"/>
                <p:cNvSpPr/>
                <p:nvPr/>
              </p:nvSpPr>
              <p:spPr>
                <a:xfrm>
                  <a:off x="660399" y="1715072"/>
                  <a:ext cx="5162960" cy="2175721"/>
                </a:xfrm>
                <a:prstGeom prst="roundRect">
                  <a:avLst>
                    <a:gd name="adj" fmla="val 8000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id="37" name="Text3" descr="e9d1a4da-4320-430a-8d70-63117c67eb79"/>
                <p:cNvSpPr/>
                <p:nvPr/>
              </p:nvSpPr>
              <p:spPr>
                <a:xfrm>
                  <a:off x="942123" y="2195528"/>
                  <a:ext cx="4832341" cy="15889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深入理解了数据库连接池、事务处理在实际项目中的应用，学会了如何通过事务确保数据操作（如选课与成绩录入）的原子性和一致性。</a:t>
                  </a:r>
                  <a:endPara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38" name="Bullet3" descr="018ed229-df48-4332-8b83-c6188e6485c8"/>
                <p:cNvSpPr/>
                <p:nvPr/>
              </p:nvSpPr>
              <p:spPr>
                <a:xfrm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理解数据库事务</a:t>
                  </a:r>
                  <a:endPara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35" name="Number3" descr="e019effc-f745-470b-b4d0-26a757ebc63c"/>
              <p:cNvSpPr/>
              <p:nvPr/>
            </p:nvSpPr>
            <p:spPr>
              <a:xfrm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FFFFFF"/>
                    </a:solidFill>
                    <a:latin typeface="Arial" panose="020B0604020202020204"/>
                  </a:rPr>
                  <a:t>3</a:t>
                </a:r>
                <a:endParaRPr lang="en-US" sz="16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39" name="组合 38" descr="5182a1bb-a90c-41ab-99d6-aac0669956c7"/>
            <p:cNvGrpSpPr/>
            <p:nvPr/>
          </p:nvGrpSpPr>
          <p:grpSpPr>
            <a:xfrm>
              <a:off x="6136995" y="3958379"/>
              <a:ext cx="5381905" cy="2175721"/>
              <a:chOff x="1143981" y="1715072"/>
              <a:chExt cx="5381905" cy="2175721"/>
            </a:xfrm>
          </p:grpSpPr>
          <p:grpSp>
            <p:nvGrpSpPr>
              <p:cNvPr id="40" name="组合 39" descr="1ba279c8-4031-46de-90d3-c6be882cea8d"/>
              <p:cNvGrpSpPr/>
              <p:nvPr/>
            </p:nvGrpSpPr>
            <p:grpSpPr>
              <a:xfrm>
                <a:off x="1362926" y="1715072"/>
                <a:ext cx="5162960" cy="2175721"/>
                <a:chOff x="660399" y="1715072"/>
                <a:chExt cx="5162960" cy="2175721"/>
              </a:xfrm>
            </p:grpSpPr>
            <p:sp>
              <p:nvSpPr>
                <p:cNvPr id="42" name="ComponentBackground4" descr="c76046db-d72d-4da6-b3ef-0e746837fc6d"/>
                <p:cNvSpPr/>
                <p:nvPr/>
              </p:nvSpPr>
              <p:spPr>
                <a:xfrm>
                  <a:off x="660399" y="1715072"/>
                  <a:ext cx="5162960" cy="2175721"/>
                </a:xfrm>
                <a:prstGeom prst="roundRect">
                  <a:avLst>
                    <a:gd name="adj" fmla="val 8000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id="43" name="Text4" descr="060a5c50-9498-42c3-9d49-e634adc88f5a"/>
                <p:cNvSpPr/>
                <p:nvPr/>
              </p:nvSpPr>
              <p:spPr>
                <a:xfrm>
                  <a:off x="942123" y="2195528"/>
                  <a:ext cx="4832341" cy="15889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掌握了通过数据库客户端工具调试SQL语句的方法，并学会了编写复杂的多表关联查询，初步具备了对SQL语句进行性能分析与优化的能力。</a:t>
                  </a:r>
                  <a:endPara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4" name="Bullet4" descr="633bae8c-099e-4d0e-9c8f-6b53d837867e"/>
                <p:cNvSpPr/>
                <p:nvPr/>
              </p:nvSpPr>
              <p:spPr>
                <a:xfrm>
                  <a:off x="942123" y="1753484"/>
                  <a:ext cx="483234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800" b="1" i="0" u="non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学会数据库调试与优化</a:t>
                  </a:r>
                  <a:endPara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41" name="Number4" descr="316b6603-9f82-4190-8c3d-3bad9ff82491"/>
              <p:cNvSpPr/>
              <p:nvPr/>
            </p:nvSpPr>
            <p:spPr>
              <a:xfrm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FFFFFF"/>
                    </a:solidFill>
                    <a:latin typeface="Arial" panose="020B0604020202020204"/>
                  </a:rPr>
                  <a:t>4</a:t>
                </a:r>
                <a:endParaRPr lang="en-US" sz="16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</p:grpSp>
      <p:sp>
        <p:nvSpPr>
          <p:cNvPr id="2" name="标题 1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关键技术实践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4eda1e78-9da9-4086-8953-14b97d158819.source.2.zh-Hans.pptx" descr="5e505001-32fa-4b26-a04a-4dfad2314a83"/>
          <p:cNvGrpSpPr/>
          <p:nvPr/>
        </p:nvGrpSpPr>
        <p:grpSpPr>
          <a:xfrm>
            <a:off x="660400" y="1536699"/>
            <a:ext cx="10858500" cy="4597401"/>
            <a:chOff x="660400" y="1536699"/>
            <a:chExt cx="10858500" cy="4597401"/>
          </a:xfrm>
        </p:grpSpPr>
        <p:sp>
          <p:nvSpPr>
            <p:cNvPr id="2" name="Title" descr="c20192e3-fc33-4ffa-a850-12c61bc1c9dc"/>
            <p:cNvSpPr/>
            <p:nvPr/>
          </p:nvSpPr>
          <p:spPr>
            <a:xfrm>
              <a:off x="660400" y="1536699"/>
              <a:ext cx="2783444" cy="3240186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复盘开发过程中遇到的典型问题及解决方案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cxnSp>
          <p:nvCxnSpPr>
            <p:cNvPr id="13" name="连接符: 肘形 12" descr="c9e86b24-d766-47e3-b327-b80f8367b687"/>
            <p:cNvCxnSpPr>
              <a:stCxn id="2" idx="3"/>
              <a:endCxn id="7" idx="3"/>
            </p:cNvCxnSpPr>
            <p:nvPr/>
          </p:nvCxnSpPr>
          <p:spPr>
            <a:xfrm>
              <a:off x="3443844" y="3156792"/>
              <a:ext cx="641268" cy="1344692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连接符: 肘形 13" descr="11f3a1bd-9cd4-4ee1-848a-11cb9b0829a2"/>
            <p:cNvCxnSpPr>
              <a:stCxn id="2" idx="3"/>
              <a:endCxn id="4" idx="3"/>
            </p:cNvCxnSpPr>
            <p:nvPr/>
          </p:nvCxnSpPr>
          <p:spPr>
            <a:xfrm flipV="1">
              <a:off x="3443844" y="1812100"/>
              <a:ext cx="641268" cy="1344692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组合 9" descr="ed168481-5726-4997-86bb-98b1b6788850"/>
            <p:cNvGrpSpPr/>
            <p:nvPr/>
          </p:nvGrpSpPr>
          <p:grpSpPr>
            <a:xfrm>
              <a:off x="4085112" y="1536700"/>
              <a:ext cx="7433788" cy="1908016"/>
              <a:chOff x="4085112" y="1130300"/>
              <a:chExt cx="7433788" cy="1908016"/>
            </a:xfrm>
          </p:grpSpPr>
          <p:sp>
            <p:nvSpPr>
              <p:cNvPr id="4" name="Bullet1" descr="695778cf-abd0-4614-b94b-cdd95d9a402b"/>
              <p:cNvSpPr/>
              <p:nvPr/>
            </p:nvSpPr>
            <p:spPr>
              <a:xfrm flipH="1">
                <a:off x="4085112" y="1130300"/>
                <a:ext cx="7433784" cy="550800"/>
              </a:xfrm>
              <a:prstGeom prst="roundRect">
                <a:avLst>
                  <a:gd name="adj" fmla="val 9201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外键约束问题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" name="Text1" descr="4cbaa856-fc33-43b9-9eac-8431c7fa7609"/>
              <p:cNvSpPr txBox="1"/>
              <p:nvPr/>
            </p:nvSpPr>
            <p:spPr>
              <a:xfrm>
                <a:off x="4085116" y="1788021"/>
                <a:ext cx="7433784" cy="125029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问题：删除院系时，因存在关联的学生或教师数据而导致删除失败。解决：深入理解外键约束的级联删除与置空策略，并在代码中增加删除前校验逻辑，弹出友好提示（如“请先转移或删除该系下的所有学生”）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1" name="组合 10" descr="7f79761f-24f5-4cad-924f-951712b07276"/>
            <p:cNvGrpSpPr/>
            <p:nvPr/>
          </p:nvGrpSpPr>
          <p:grpSpPr>
            <a:xfrm>
              <a:off x="4085112" y="4226084"/>
              <a:ext cx="7433788" cy="1908016"/>
              <a:chOff x="4085112" y="3819684"/>
              <a:chExt cx="7433788" cy="1908016"/>
            </a:xfrm>
          </p:grpSpPr>
          <p:sp>
            <p:nvSpPr>
              <p:cNvPr id="7" name="Bullet2" descr="8b098b07-d0ca-4bb6-b44b-88dd8ec88001"/>
              <p:cNvSpPr/>
              <p:nvPr/>
            </p:nvSpPr>
            <p:spPr>
              <a:xfrm flipH="1">
                <a:off x="4085112" y="3819684"/>
                <a:ext cx="7433784" cy="550800"/>
              </a:xfrm>
              <a:prstGeom prst="roundRect">
                <a:avLst>
                  <a:gd name="adj" fmla="val 7957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SQL注入风险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8" name="Text2" descr="da89428b-15ab-4e74-a5eb-4e92f5b12b98"/>
              <p:cNvSpPr txBox="1"/>
              <p:nvPr/>
            </p:nvSpPr>
            <p:spPr>
              <a:xfrm>
                <a:off x="4085116" y="4477405"/>
                <a:ext cx="7433784" cy="125029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问题：早期编写的多条件查询SQL语句采用字符串拼接方式，存在SQL注入风险且拼接逻辑复杂易错。解决：学习并使用参数化查询（PreparedStatement），不仅提高了代码的安全性，还使其更易于维护。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6" name="标题 5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问题解决与反思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019d5a39-64ee-419a-a374-09444675d919.source.3.zh-Hans.pptx" descr="8e4f4f5d-e015-4766-a449-5bb091300c81"/>
          <p:cNvGrpSpPr/>
          <p:nvPr/>
        </p:nvGrpSpPr>
        <p:grpSpPr>
          <a:xfrm>
            <a:off x="660399" y="884781"/>
            <a:ext cx="10858501" cy="5249319"/>
            <a:chOff x="660399" y="884781"/>
            <a:chExt cx="10858501" cy="5249319"/>
          </a:xfrm>
        </p:grpSpPr>
        <p:sp>
          <p:nvSpPr>
            <p:cNvPr id="2" name="Title" descr="95f8d092-a8e9-47fa-9cfa-235fe51ccac0"/>
            <p:cNvSpPr txBox="1"/>
            <p:nvPr/>
          </p:nvSpPr>
          <p:spPr>
            <a:xfrm>
              <a:off x="660400" y="1130300"/>
              <a:ext cx="6913669" cy="770708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对系统下一步的功能扩展与技术升级进行规划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sp>
          <p:nvSpPr>
            <p:cNvPr id="4" name="任意多边形: 形状 3" descr="08837953-82a3-4b3a-97ff-d1fcb70049b3"/>
            <p:cNvSpPr/>
            <p:nvPr/>
          </p:nvSpPr>
          <p:spPr>
            <a:xfrm>
              <a:off x="770847" y="884781"/>
              <a:ext cx="1058129" cy="107213"/>
            </a:xfrm>
            <a:custGeom>
              <a:avLst/>
              <a:gdLst>
                <a:gd name="connsiteX0" fmla="*/ 856106 w 1058129"/>
                <a:gd name="connsiteY0" fmla="*/ 0 h 107213"/>
                <a:gd name="connsiteX1" fmla="*/ 1058129 w 1058129"/>
                <a:gd name="connsiteY1" fmla="*/ 0 h 107213"/>
                <a:gd name="connsiteX2" fmla="*/ 887698 w 1058129"/>
                <a:gd name="connsiteY2" fmla="*/ 107213 h 107213"/>
                <a:gd name="connsiteX3" fmla="*/ 685674 w 1058129"/>
                <a:gd name="connsiteY3" fmla="*/ 107213 h 107213"/>
                <a:gd name="connsiteX4" fmla="*/ 513164 w 1058129"/>
                <a:gd name="connsiteY4" fmla="*/ 0 h 107213"/>
                <a:gd name="connsiteX5" fmla="*/ 715187 w 1058129"/>
                <a:gd name="connsiteY5" fmla="*/ 0 h 107213"/>
                <a:gd name="connsiteX6" fmla="*/ 544756 w 1058129"/>
                <a:gd name="connsiteY6" fmla="*/ 107213 h 107213"/>
                <a:gd name="connsiteX7" fmla="*/ 342732 w 1058129"/>
                <a:gd name="connsiteY7" fmla="*/ 107213 h 107213"/>
                <a:gd name="connsiteX8" fmla="*/ 170432 w 1058129"/>
                <a:gd name="connsiteY8" fmla="*/ 0 h 107213"/>
                <a:gd name="connsiteX9" fmla="*/ 372455 w 1058129"/>
                <a:gd name="connsiteY9" fmla="*/ 0 h 107213"/>
                <a:gd name="connsiteX10" fmla="*/ 202024 w 1058129"/>
                <a:gd name="connsiteY10" fmla="*/ 107213 h 107213"/>
                <a:gd name="connsiteX11" fmla="*/ 0 w 1058129"/>
                <a:gd name="connsiteY11" fmla="*/ 107213 h 107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58129" h="107213">
                  <a:moveTo>
                    <a:pt x="856106" y="0"/>
                  </a:moveTo>
                  <a:lnTo>
                    <a:pt x="1058129" y="0"/>
                  </a:lnTo>
                  <a:lnTo>
                    <a:pt x="887698" y="107213"/>
                  </a:lnTo>
                  <a:lnTo>
                    <a:pt x="685674" y="107213"/>
                  </a:lnTo>
                  <a:close/>
                  <a:moveTo>
                    <a:pt x="513164" y="0"/>
                  </a:moveTo>
                  <a:lnTo>
                    <a:pt x="715187" y="0"/>
                  </a:lnTo>
                  <a:lnTo>
                    <a:pt x="544756" y="107213"/>
                  </a:lnTo>
                  <a:lnTo>
                    <a:pt x="342732" y="107213"/>
                  </a:lnTo>
                  <a:close/>
                  <a:moveTo>
                    <a:pt x="170432" y="0"/>
                  </a:moveTo>
                  <a:lnTo>
                    <a:pt x="372455" y="0"/>
                  </a:lnTo>
                  <a:lnTo>
                    <a:pt x="202024" y="107213"/>
                  </a:lnTo>
                  <a:lnTo>
                    <a:pt x="0" y="10721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</a:p>
          </p:txBody>
        </p:sp>
        <p:cxnSp>
          <p:nvCxnSpPr>
            <p:cNvPr id="5" name="直接连接符 4" descr="451f9a66-2b31-4bf2-ba64-d1eea6381bf3"/>
            <p:cNvCxnSpPr/>
            <p:nvPr/>
          </p:nvCxnSpPr>
          <p:spPr>
            <a:xfrm>
              <a:off x="660399" y="1028700"/>
              <a:ext cx="10858500" cy="0"/>
            </a:xfrm>
            <a:prstGeom prst="line">
              <a:avLst/>
            </a:prstGeom>
            <a:ln>
              <a:solidFill>
                <a:schemeClr val="accent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17" descr="7c4bc936-b0f7-45ea-b9a8-75dee979b196"/>
            <p:cNvGrpSpPr/>
            <p:nvPr/>
          </p:nvGrpSpPr>
          <p:grpSpPr>
            <a:xfrm>
              <a:off x="660400" y="1986034"/>
              <a:ext cx="4660537" cy="1976969"/>
              <a:chOff x="660400" y="1986034"/>
              <a:chExt cx="4660537" cy="1976969"/>
            </a:xfrm>
          </p:grpSpPr>
          <p:sp>
            <p:nvSpPr>
              <p:cNvPr id="21" name="矩形: 圆角 20" descr="f2a56780-143b-4af1-9620-01ffb76acebb"/>
              <p:cNvSpPr/>
              <p:nvPr/>
            </p:nvSpPr>
            <p:spPr>
              <a:xfrm>
                <a:off x="660400" y="2477071"/>
                <a:ext cx="4660537" cy="1463073"/>
              </a:xfrm>
              <a:prstGeom prst="roundRect">
                <a:avLst>
                  <a:gd name="adj" fmla="val 4325"/>
                </a:avLst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6" name="任意多边形: 形状 5" descr="7a765535-fed7-4f53-9275-3c9c7104e72c"/>
              <p:cNvSpPr/>
              <p:nvPr/>
            </p:nvSpPr>
            <p:spPr>
              <a:xfrm>
                <a:off x="2647937" y="1986034"/>
                <a:ext cx="372453" cy="107211"/>
              </a:xfrm>
              <a:custGeom>
                <a:avLst/>
                <a:gdLst>
                  <a:gd name="connsiteX0" fmla="*/ 92583 w 170687"/>
                  <a:gd name="connsiteY0" fmla="*/ 78105 h 78104"/>
                  <a:gd name="connsiteX1" fmla="*/ 0 w 170687"/>
                  <a:gd name="connsiteY1" fmla="*/ 78105 h 78104"/>
                  <a:gd name="connsiteX2" fmla="*/ 78105 w 170687"/>
                  <a:gd name="connsiteY2" fmla="*/ 0 h 78104"/>
                  <a:gd name="connsiteX3" fmla="*/ 170688 w 170687"/>
                  <a:gd name="connsiteY3" fmla="*/ 0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687" h="78104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7" name="任意多边形: 形状 6" descr="0e063e06-a5e2-43d5-8acf-3fdd3f02999b"/>
              <p:cNvSpPr/>
              <p:nvPr/>
            </p:nvSpPr>
            <p:spPr>
              <a:xfrm>
                <a:off x="2990669" y="1986034"/>
                <a:ext cx="372453" cy="107211"/>
              </a:xfrm>
              <a:custGeom>
                <a:avLst/>
                <a:gdLst>
                  <a:gd name="connsiteX0" fmla="*/ 92583 w 170687"/>
                  <a:gd name="connsiteY0" fmla="*/ 78105 h 78104"/>
                  <a:gd name="connsiteX1" fmla="*/ 0 w 170687"/>
                  <a:gd name="connsiteY1" fmla="*/ 78105 h 78104"/>
                  <a:gd name="connsiteX2" fmla="*/ 78105 w 170687"/>
                  <a:gd name="connsiteY2" fmla="*/ 0 h 78104"/>
                  <a:gd name="connsiteX3" fmla="*/ 170688 w 170687"/>
                  <a:gd name="connsiteY3" fmla="*/ 0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687" h="78104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8" name="任意多边形: 形状 7" descr="dfe690c9-cc58-4036-8b53-fddb5428f817"/>
              <p:cNvSpPr/>
              <p:nvPr/>
            </p:nvSpPr>
            <p:spPr>
              <a:xfrm>
                <a:off x="3333611" y="1986034"/>
                <a:ext cx="372453" cy="107211"/>
              </a:xfrm>
              <a:custGeom>
                <a:avLst/>
                <a:gdLst>
                  <a:gd name="connsiteX0" fmla="*/ 92583 w 170687"/>
                  <a:gd name="connsiteY0" fmla="*/ 78105 h 78104"/>
                  <a:gd name="connsiteX1" fmla="*/ 0 w 170687"/>
                  <a:gd name="connsiteY1" fmla="*/ 78105 h 78104"/>
                  <a:gd name="connsiteX2" fmla="*/ 78105 w 170687"/>
                  <a:gd name="connsiteY2" fmla="*/ 0 h 78104"/>
                  <a:gd name="connsiteX3" fmla="*/ 170688 w 170687"/>
                  <a:gd name="connsiteY3" fmla="*/ 0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687" h="78104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67" name="平行四边形 66" descr="54f8c7c9-7b23-4b3a-a2b4-c82364ed73cf"/>
              <p:cNvSpPr/>
              <p:nvPr/>
            </p:nvSpPr>
            <p:spPr>
              <a:xfrm>
                <a:off x="4636664" y="3917284"/>
                <a:ext cx="467150" cy="45719"/>
              </a:xfrm>
              <a:prstGeom prst="parallelogram">
                <a:avLst>
                  <a:gd name="adj" fmla="val 53255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grpSp>
            <p:nvGrpSpPr>
              <p:cNvPr id="13" name="组合 12" descr="046ee451-6bba-4eee-85de-03b7714c9795"/>
              <p:cNvGrpSpPr/>
              <p:nvPr/>
            </p:nvGrpSpPr>
            <p:grpSpPr>
              <a:xfrm>
                <a:off x="807980" y="2093245"/>
                <a:ext cx="4346947" cy="1738527"/>
                <a:chOff x="807980" y="2093245"/>
                <a:chExt cx="4346947" cy="1738527"/>
              </a:xfrm>
            </p:grpSpPr>
            <p:sp>
              <p:nvSpPr>
                <p:cNvPr id="10" name="Bullet1" descr="51db551a-e8c1-4a12-a62d-8f4f9c1d406f"/>
                <p:cNvSpPr txBox="1"/>
                <p:nvPr/>
              </p:nvSpPr>
              <p:spPr>
                <a:xfrm>
                  <a:off x="807981" y="2093245"/>
                  <a:ext cx="3144817" cy="6124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600" b="1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功能扩展</a:t>
                  </a:r>
                  <a:endParaRPr lang="en-US" sz="1600" b="1" i="0" u="none" strike="noStrik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11" name="Text1" descr="169d9d91-2fff-4361-b108-ee261f3f1824"/>
                <p:cNvSpPr txBox="1"/>
                <p:nvPr/>
              </p:nvSpPr>
              <p:spPr>
                <a:xfrm>
                  <a:off x="807980" y="2749244"/>
                  <a:ext cx="4346947" cy="10825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计划增加课程评价功能，让学生能对课程与教师进行匿名评价；增加教室管理模块，实现课程与教室资源的自动关联；并开发排课冲突自动检测功能，提升排课科学性。</a:t>
                  </a:r>
                  <a:endPara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19" name="组合 18" descr="fea07d5d-b919-45a7-a85a-53641eaa22ec"/>
            <p:cNvGrpSpPr/>
            <p:nvPr/>
          </p:nvGrpSpPr>
          <p:grpSpPr>
            <a:xfrm>
              <a:off x="6858363" y="1986034"/>
              <a:ext cx="4660537" cy="1976969"/>
              <a:chOff x="6858363" y="1986034"/>
              <a:chExt cx="4660537" cy="1976969"/>
            </a:xfrm>
          </p:grpSpPr>
          <p:sp>
            <p:nvSpPr>
              <p:cNvPr id="107" name="矩形: 圆角 106" descr="87d781c0-070d-4a76-bb8a-4cbab4497145"/>
              <p:cNvSpPr/>
              <p:nvPr/>
            </p:nvSpPr>
            <p:spPr>
              <a:xfrm>
                <a:off x="6858363" y="2477071"/>
                <a:ext cx="4660537" cy="1463073"/>
              </a:xfrm>
              <a:prstGeom prst="roundRect">
                <a:avLst>
                  <a:gd name="adj" fmla="val 4325"/>
                </a:avLst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111" name="任意多边形: 形状 110" descr="7b482bc9-d906-4b7b-a244-04846d262537"/>
              <p:cNvSpPr/>
              <p:nvPr/>
            </p:nvSpPr>
            <p:spPr>
              <a:xfrm>
                <a:off x="8845900" y="1986034"/>
                <a:ext cx="372453" cy="107211"/>
              </a:xfrm>
              <a:custGeom>
                <a:avLst/>
                <a:gdLst>
                  <a:gd name="connsiteX0" fmla="*/ 92583 w 170687"/>
                  <a:gd name="connsiteY0" fmla="*/ 78105 h 78104"/>
                  <a:gd name="connsiteX1" fmla="*/ 0 w 170687"/>
                  <a:gd name="connsiteY1" fmla="*/ 78105 h 78104"/>
                  <a:gd name="connsiteX2" fmla="*/ 78105 w 170687"/>
                  <a:gd name="connsiteY2" fmla="*/ 0 h 78104"/>
                  <a:gd name="connsiteX3" fmla="*/ 170688 w 170687"/>
                  <a:gd name="connsiteY3" fmla="*/ 0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687" h="78104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112" name="任意多边形: 形状 111" descr="8b014444-c71a-4637-981c-b4b366623909"/>
              <p:cNvSpPr/>
              <p:nvPr/>
            </p:nvSpPr>
            <p:spPr>
              <a:xfrm>
                <a:off x="9188632" y="1986034"/>
                <a:ext cx="372453" cy="107211"/>
              </a:xfrm>
              <a:custGeom>
                <a:avLst/>
                <a:gdLst>
                  <a:gd name="connsiteX0" fmla="*/ 92583 w 170687"/>
                  <a:gd name="connsiteY0" fmla="*/ 78105 h 78104"/>
                  <a:gd name="connsiteX1" fmla="*/ 0 w 170687"/>
                  <a:gd name="connsiteY1" fmla="*/ 78105 h 78104"/>
                  <a:gd name="connsiteX2" fmla="*/ 78105 w 170687"/>
                  <a:gd name="connsiteY2" fmla="*/ 0 h 78104"/>
                  <a:gd name="connsiteX3" fmla="*/ 170688 w 170687"/>
                  <a:gd name="connsiteY3" fmla="*/ 0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687" h="78104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113" name="任意多边形: 形状 112" descr="d78f0792-f593-4986-8885-321b5ff2e1d5"/>
              <p:cNvSpPr/>
              <p:nvPr/>
            </p:nvSpPr>
            <p:spPr>
              <a:xfrm>
                <a:off x="9531574" y="1986034"/>
                <a:ext cx="372453" cy="107211"/>
              </a:xfrm>
              <a:custGeom>
                <a:avLst/>
                <a:gdLst>
                  <a:gd name="connsiteX0" fmla="*/ 92583 w 170687"/>
                  <a:gd name="connsiteY0" fmla="*/ 78105 h 78104"/>
                  <a:gd name="connsiteX1" fmla="*/ 0 w 170687"/>
                  <a:gd name="connsiteY1" fmla="*/ 78105 h 78104"/>
                  <a:gd name="connsiteX2" fmla="*/ 78105 w 170687"/>
                  <a:gd name="connsiteY2" fmla="*/ 0 h 78104"/>
                  <a:gd name="connsiteX3" fmla="*/ 170688 w 170687"/>
                  <a:gd name="connsiteY3" fmla="*/ 0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687" h="78104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110" name="平行四边形 109" descr="63737afe-5088-409b-b183-f3cfd12a136b"/>
              <p:cNvSpPr/>
              <p:nvPr/>
            </p:nvSpPr>
            <p:spPr>
              <a:xfrm>
                <a:off x="10834627" y="3917284"/>
                <a:ext cx="467150" cy="45719"/>
              </a:xfrm>
              <a:prstGeom prst="parallelogram">
                <a:avLst>
                  <a:gd name="adj" fmla="val 53255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grpSp>
            <p:nvGrpSpPr>
              <p:cNvPr id="14" name="组合 13" descr="b08a9141-113e-493b-b017-87a1865b3249"/>
              <p:cNvGrpSpPr/>
              <p:nvPr/>
            </p:nvGrpSpPr>
            <p:grpSpPr>
              <a:xfrm>
                <a:off x="7005943" y="2093245"/>
                <a:ext cx="4346947" cy="1738527"/>
                <a:chOff x="7005943" y="2093245"/>
                <a:chExt cx="4346947" cy="1738527"/>
              </a:xfrm>
            </p:grpSpPr>
            <p:sp>
              <p:nvSpPr>
                <p:cNvPr id="114" name="Bullet2" descr="f730d986-ad93-4e42-b8e0-e66956edbbf8"/>
                <p:cNvSpPr txBox="1"/>
                <p:nvPr/>
              </p:nvSpPr>
              <p:spPr>
                <a:xfrm>
                  <a:off x="7005944" y="2093245"/>
                  <a:ext cx="3144817" cy="6124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600" b="1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架构升级</a:t>
                  </a:r>
                  <a:endParaRPr lang="en-US" sz="1600" b="1" i="0" u="none" strike="noStrik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109" name="Text2" descr="4c28e762-c500-40b5-bb3f-806bef4c3daf"/>
                <p:cNvSpPr txBox="1"/>
                <p:nvPr/>
              </p:nvSpPr>
              <p:spPr>
                <a:xfrm>
                  <a:off x="7005943" y="2749244"/>
                  <a:ext cx="4346947" cy="10825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考虑将系统从当前的C/S架构迁移至B/S架构，实现更便捷的跨平台访问，降低客户端维护成本。</a:t>
                  </a:r>
                  <a:endPara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20" name="组合 19" descr="b243d6e5-c17c-4eda-ae92-fe024fae0d5b"/>
            <p:cNvGrpSpPr/>
            <p:nvPr/>
          </p:nvGrpSpPr>
          <p:grpSpPr>
            <a:xfrm>
              <a:off x="3759381" y="4157131"/>
              <a:ext cx="4660537" cy="1976969"/>
              <a:chOff x="3759381" y="4157131"/>
              <a:chExt cx="4660537" cy="1976969"/>
            </a:xfrm>
          </p:grpSpPr>
          <p:sp>
            <p:nvSpPr>
              <p:cNvPr id="116" name="矩形: 圆角 115" descr="11756344-159a-41c9-aebf-a37ce907a25f"/>
              <p:cNvSpPr/>
              <p:nvPr/>
            </p:nvSpPr>
            <p:spPr>
              <a:xfrm>
                <a:off x="3759381" y="4648168"/>
                <a:ext cx="4660537" cy="1463073"/>
              </a:xfrm>
              <a:prstGeom prst="roundRect">
                <a:avLst>
                  <a:gd name="adj" fmla="val 4325"/>
                </a:avLst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120" name="任意多边形: 形状 119" descr="d360fe33-1487-44bd-80ce-2f4838393e89"/>
              <p:cNvSpPr/>
              <p:nvPr/>
            </p:nvSpPr>
            <p:spPr>
              <a:xfrm>
                <a:off x="5746918" y="4157131"/>
                <a:ext cx="372453" cy="107211"/>
              </a:xfrm>
              <a:custGeom>
                <a:avLst/>
                <a:gdLst>
                  <a:gd name="connsiteX0" fmla="*/ 92583 w 170687"/>
                  <a:gd name="connsiteY0" fmla="*/ 78105 h 78104"/>
                  <a:gd name="connsiteX1" fmla="*/ 0 w 170687"/>
                  <a:gd name="connsiteY1" fmla="*/ 78105 h 78104"/>
                  <a:gd name="connsiteX2" fmla="*/ 78105 w 170687"/>
                  <a:gd name="connsiteY2" fmla="*/ 0 h 78104"/>
                  <a:gd name="connsiteX3" fmla="*/ 170688 w 170687"/>
                  <a:gd name="connsiteY3" fmla="*/ 0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687" h="78104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121" name="任意多边形: 形状 120" descr="c8b7ffc5-2037-4198-8383-e3b1bb7cef2a"/>
              <p:cNvSpPr/>
              <p:nvPr/>
            </p:nvSpPr>
            <p:spPr>
              <a:xfrm>
                <a:off x="6089650" y="4157131"/>
                <a:ext cx="372453" cy="107211"/>
              </a:xfrm>
              <a:custGeom>
                <a:avLst/>
                <a:gdLst>
                  <a:gd name="connsiteX0" fmla="*/ 92583 w 170687"/>
                  <a:gd name="connsiteY0" fmla="*/ 78105 h 78104"/>
                  <a:gd name="connsiteX1" fmla="*/ 0 w 170687"/>
                  <a:gd name="connsiteY1" fmla="*/ 78105 h 78104"/>
                  <a:gd name="connsiteX2" fmla="*/ 78105 w 170687"/>
                  <a:gd name="connsiteY2" fmla="*/ 0 h 78104"/>
                  <a:gd name="connsiteX3" fmla="*/ 170688 w 170687"/>
                  <a:gd name="connsiteY3" fmla="*/ 0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687" h="78104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122" name="任意多边形: 形状 121" descr="c65a6598-56f8-4933-b337-9dfe79925dad"/>
              <p:cNvSpPr/>
              <p:nvPr/>
            </p:nvSpPr>
            <p:spPr>
              <a:xfrm>
                <a:off x="6432592" y="4157131"/>
                <a:ext cx="372453" cy="107211"/>
              </a:xfrm>
              <a:custGeom>
                <a:avLst/>
                <a:gdLst>
                  <a:gd name="connsiteX0" fmla="*/ 92583 w 170687"/>
                  <a:gd name="connsiteY0" fmla="*/ 78105 h 78104"/>
                  <a:gd name="connsiteX1" fmla="*/ 0 w 170687"/>
                  <a:gd name="connsiteY1" fmla="*/ 78105 h 78104"/>
                  <a:gd name="connsiteX2" fmla="*/ 78105 w 170687"/>
                  <a:gd name="connsiteY2" fmla="*/ 0 h 78104"/>
                  <a:gd name="connsiteX3" fmla="*/ 170688 w 170687"/>
                  <a:gd name="connsiteY3" fmla="*/ 0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687" h="78104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119" name="平行四边形 118" descr="63c26469-8866-469d-a976-353301d16d0a"/>
              <p:cNvSpPr/>
              <p:nvPr/>
            </p:nvSpPr>
            <p:spPr>
              <a:xfrm>
                <a:off x="7735645" y="6088381"/>
                <a:ext cx="467150" cy="45719"/>
              </a:xfrm>
              <a:prstGeom prst="parallelogram">
                <a:avLst>
                  <a:gd name="adj" fmla="val 53255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grpSp>
            <p:nvGrpSpPr>
              <p:cNvPr id="15" name="组合 14" descr="56b390d7-9303-4f3f-9f95-971fea9220fe"/>
              <p:cNvGrpSpPr/>
              <p:nvPr/>
            </p:nvGrpSpPr>
            <p:grpSpPr>
              <a:xfrm>
                <a:off x="3906961" y="4264342"/>
                <a:ext cx="4346947" cy="1738527"/>
                <a:chOff x="3906961" y="4264342"/>
                <a:chExt cx="4346947" cy="1738527"/>
              </a:xfrm>
            </p:grpSpPr>
            <p:sp>
              <p:nvSpPr>
                <p:cNvPr id="123" name="Bullet3" descr="8180a4fe-03c3-4e13-8fbd-1f6f3c063cf0"/>
                <p:cNvSpPr txBox="1"/>
                <p:nvPr/>
              </p:nvSpPr>
              <p:spPr>
                <a:xfrm>
                  <a:off x="3906962" y="4264342"/>
                  <a:ext cx="3144817" cy="6124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600" b="1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引入智能化</a:t>
                  </a:r>
                  <a:endParaRPr lang="en-US" sz="1600" b="1" i="0" u="none" strike="noStrik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118" name="Text3" descr="2a27436f-ab66-49d3-8d62-78f7081c195c"/>
                <p:cNvSpPr txBox="1"/>
                <p:nvPr/>
              </p:nvSpPr>
              <p:spPr>
                <a:xfrm>
                  <a:off x="3906961" y="4920341"/>
                  <a:ext cx="4346947" cy="10825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探索引入简单的选课推荐算法，根据学生的专业、已修课程和学习成绩，为其智能推荐符合培养计划和个人兴趣的相关课程。</a:t>
                  </a:r>
                  <a:endPara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</p:grpSp>
        </p:grpSp>
      </p:grpSp>
      <p:sp>
        <p:nvSpPr>
          <p:cNvPr id="3" name="标题 2" descr="c1301e3d-5c1f-4872-9244-0c652646a61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系统未来展望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AS_NET" val="8.0.0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236DE"/>
      </a:accent1>
      <a:accent2>
        <a:srgbClr val="5DA6FF"/>
      </a:accent2>
      <a:accent3>
        <a:srgbClr val="585858"/>
      </a:accent3>
      <a:accent4>
        <a:srgbClr val="757575"/>
      </a:accent4>
      <a:accent5>
        <a:srgbClr val="A8A8A8"/>
      </a:accent5>
      <a:accent6>
        <a:srgbClr val="BEBEBE"/>
      </a:accent6>
      <a:hlink>
        <a:srgbClr val="4472C4"/>
      </a:hlink>
      <a:folHlink>
        <a:srgbClr val="BFBFBF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0</TotalTime>
  <Words>3866</Words>
  <Application>WPS 演示</Application>
  <PresentationFormat>宽屏</PresentationFormat>
  <Paragraphs>408</Paragraphs>
  <Slides>24</Slides>
  <Notes>7</Notes>
  <HiddenSlides>7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Arial</vt:lpstr>
      <vt:lpstr>Arial Unicode MS</vt:lpstr>
      <vt:lpstr>等线</vt:lpstr>
      <vt:lpstr>Designed by iSlide</vt:lpstr>
      <vt:lpstr>学生选课管理信息系统</vt:lpstr>
      <vt:lpstr>目录</vt:lpstr>
      <vt:lpstr>项目缘起与目标</vt:lpstr>
      <vt:lpstr>传统管理痛点分析</vt:lpstr>
      <vt:lpstr>系统建设总目标</vt:lpstr>
      <vt:lpstr>系统纵览与架构</vt:lpstr>
      <vt:lpstr>核心数据模型展示</vt:lpstr>
      <vt:lpstr>多角色协同架构</vt:lpstr>
      <vt:lpstr>系统核心价值</vt:lpstr>
      <vt:lpstr>核心功能全景</vt:lpstr>
      <vt:lpstr>管理员端核心能力</vt:lpstr>
      <vt:lpstr>教师端核心功能</vt:lpstr>
      <vt:lpstr>学生端核心功能</vt:lpstr>
      <vt:lpstr>关键技术实现</vt:lpstr>
      <vt:lpstr>系统开发技术栈</vt:lpstr>
      <vt:lpstr>数据交互流程</vt:lpstr>
      <vt:lpstr>系统设计亮点</vt:lpstr>
      <vt:lpstr>双重数据完整性</vt:lpstr>
      <vt:lpstr>智能化查询体系</vt:lpstr>
      <vt:lpstr>基于角色的动态界面</vt:lpstr>
      <vt:lpstr>个人成长与总结</vt:lpstr>
      <vt:lpstr>关键技术实践</vt:lpstr>
      <vt:lpstr>问题解决与反思</vt:lpstr>
      <vt:lpstr>系统未来展望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iSlide</dc:creator>
  <cp:lastModifiedBy>LcH0413</cp:lastModifiedBy>
  <cp:revision>3</cp:revision>
  <cp:lastPrinted>2023-12-25T16:00:00Z</cp:lastPrinted>
  <dcterms:created xsi:type="dcterms:W3CDTF">2023-12-25T16:00:00Z</dcterms:created>
  <dcterms:modified xsi:type="dcterms:W3CDTF">2025-12-18T06:20:48Z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61e159cd-e572-4d86-94ef-1ff6d166583c</vt:lpwstr>
  </property>
  <property fmtid="{D5CDD505-2E9C-101B-9397-08002B2CF9AE}" pid="3" name="ICV">
    <vt:lpwstr>C8025D13FADF41A38C2CB3C886A53B0E_12</vt:lpwstr>
  </property>
  <property fmtid="{D5CDD505-2E9C-101B-9397-08002B2CF9AE}" pid="4" name="KSOProductBuildVer">
    <vt:lpwstr>2052-12.1.0.24034</vt:lpwstr>
  </property>
</Properties>
</file>